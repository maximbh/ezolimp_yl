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dec Pro Bold" panose="020B0604020202020204" charset="0"/>
      <p:regular r:id="rId12"/>
    </p:embeddedFont>
    <p:embeddedFont>
      <p:font typeface="IBM Plex Sans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dec Pro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5030" autoAdjust="0"/>
  </p:normalViewPr>
  <p:slideViewPr>
    <p:cSldViewPr>
      <p:cViewPr varScale="1">
        <p:scale>
          <a:sx n="74" d="100"/>
          <a:sy n="74" d="100"/>
        </p:scale>
        <p:origin x="53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7.svg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svg"/><Relationship Id="rId7" Type="http://schemas.openxmlformats.org/officeDocument/2006/relationships/image" Target="../media/image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5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971800"/>
            <a:ext cx="16230600" cy="162306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13935" y="-1386565"/>
            <a:ext cx="13060129" cy="130601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90693" y="290193"/>
            <a:ext cx="9706614" cy="97066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797783" y="7632904"/>
            <a:ext cx="2692434" cy="982738"/>
          </a:xfrm>
          <a:custGeom>
            <a:avLst/>
            <a:gdLst/>
            <a:ahLst/>
            <a:cxnLst/>
            <a:rect l="l" t="t" r="r" b="b"/>
            <a:pathLst>
              <a:path w="2692434" h="982738">
                <a:moveTo>
                  <a:pt x="0" y="0"/>
                </a:moveTo>
                <a:lnTo>
                  <a:pt x="2692434" y="0"/>
                </a:lnTo>
                <a:lnTo>
                  <a:pt x="2692434" y="982738"/>
                </a:lnTo>
                <a:lnTo>
                  <a:pt x="0" y="982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147602" y="7840901"/>
            <a:ext cx="6220316" cy="774741"/>
            <a:chOff x="0" y="0"/>
            <a:chExt cx="604788" cy="1497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4788" cy="149780"/>
            </a:xfrm>
            <a:custGeom>
              <a:avLst/>
              <a:gdLst/>
              <a:ahLst/>
              <a:cxnLst/>
              <a:rect l="l" t="t" r="r" b="b"/>
              <a:pathLst>
                <a:path w="604788" h="149780">
                  <a:moveTo>
                    <a:pt x="74890" y="0"/>
                  </a:moveTo>
                  <a:lnTo>
                    <a:pt x="529898" y="0"/>
                  </a:lnTo>
                  <a:cubicBezTo>
                    <a:pt x="549760" y="0"/>
                    <a:pt x="568808" y="7890"/>
                    <a:pt x="582853" y="21935"/>
                  </a:cubicBezTo>
                  <a:cubicBezTo>
                    <a:pt x="596897" y="35979"/>
                    <a:pt x="604788" y="55028"/>
                    <a:pt x="604788" y="74890"/>
                  </a:cubicBezTo>
                  <a:lnTo>
                    <a:pt x="604788" y="74890"/>
                  </a:lnTo>
                  <a:cubicBezTo>
                    <a:pt x="604788" y="116250"/>
                    <a:pt x="571258" y="149780"/>
                    <a:pt x="529898" y="149780"/>
                  </a:cubicBezTo>
                  <a:lnTo>
                    <a:pt x="74890" y="149780"/>
                  </a:lnTo>
                  <a:cubicBezTo>
                    <a:pt x="33529" y="149780"/>
                    <a:pt x="0" y="116250"/>
                    <a:pt x="0" y="74890"/>
                  </a:cubicBezTo>
                  <a:lnTo>
                    <a:pt x="0" y="74890"/>
                  </a:lnTo>
                  <a:cubicBezTo>
                    <a:pt x="0" y="33529"/>
                    <a:pt x="33529" y="0"/>
                    <a:pt x="748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04788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40914" y="4164359"/>
            <a:ext cx="1946042" cy="1958281"/>
          </a:xfrm>
          <a:custGeom>
            <a:avLst/>
            <a:gdLst/>
            <a:ahLst/>
            <a:cxnLst/>
            <a:rect l="l" t="t" r="r" b="b"/>
            <a:pathLst>
              <a:path w="1946042" h="1958281">
                <a:moveTo>
                  <a:pt x="0" y="0"/>
                </a:moveTo>
                <a:lnTo>
                  <a:pt x="1946042" y="0"/>
                </a:lnTo>
                <a:lnTo>
                  <a:pt x="1946042" y="1958282"/>
                </a:lnTo>
                <a:lnTo>
                  <a:pt x="0" y="1958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368578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431536" y="7480212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919422" y="3841623"/>
            <a:ext cx="10449156" cy="1833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37"/>
              </a:lnSpc>
            </a:pPr>
            <a:r>
              <a:rPr lang="en-US" sz="13034" b="1" spc="-32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3034" b="1" spc="-32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399493" y="2128019"/>
            <a:ext cx="2090724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ru-RU" sz="1900" b="1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Платформа для подготовки к олимпиадам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669220" y="7430218"/>
            <a:ext cx="2949560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spc="-8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Авторы:</a:t>
            </a:r>
            <a:endParaRPr lang="en-US" sz="2000" spc="-8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606983" y="7982177"/>
            <a:ext cx="5301554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2000" b="1" spc="-80" dirty="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Богушевич Максим, Краснов Андрей, </a:t>
            </a:r>
            <a:r>
              <a:rPr lang="ru-RU" sz="2000" b="1" spc="-80" dirty="0" err="1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Бардеев</a:t>
            </a:r>
            <a:r>
              <a:rPr lang="ru-RU" sz="2000" b="1" spc="-80" dirty="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Артем</a:t>
            </a:r>
            <a:endParaRPr lang="en-US" sz="2000" b="1" spc="-80" dirty="0">
              <a:solidFill>
                <a:srgbClr val="F3FBFF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0102469-6159-4A74-8E3A-C5C617ECD3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384" y="2205720"/>
            <a:ext cx="646797" cy="6467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13954" y="-7620415"/>
            <a:ext cx="13867841" cy="138678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1077853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77853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03415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03415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89226" y="1633530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863296"/>
            <a:ext cx="4023441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Введение: идея проекта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1077853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03415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265125"/>
            <a:ext cx="3587969" cy="627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sz="200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Идея </a:t>
            </a:r>
            <a:r>
              <a:rPr lang="ru-RU" sz="2000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EzOlimp</a:t>
            </a:r>
            <a:r>
              <a:rPr lang="ru-RU" sz="200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— объединить в одном сервисе:</a:t>
            </a:r>
            <a:endParaRPr lang="en-US" sz="20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786836" y="1774291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86836" y="4478337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12303" y="1774291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12303" y="4478337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86836" y="7182384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05.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12303" y="7182384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24624" y="1633530"/>
            <a:ext cx="3333024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банк олимпиадных задач по предметам и классам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253440" y="4438922"/>
            <a:ext cx="3387099" cy="11926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соревновательный режим </a:t>
            </a:r>
            <a:r>
              <a:rPr lang="ru-RU" sz="2799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1x1 в реальном времени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3701163" y="1806705"/>
            <a:ext cx="309960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тренировку с автоматической проверкой ответа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3682112" y="4342394"/>
            <a:ext cx="3462888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рейтинг, достижения и персональную статистику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324189" y="7203904"/>
            <a:ext cx="309960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персональный профиль пользователя</a:t>
            </a:r>
            <a:endParaRPr lang="en-US" sz="2799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701163" y="7122285"/>
            <a:ext cx="2150331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ru-RU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разбор решений: ВСОШ и </a:t>
            </a:r>
            <a:r>
              <a:rPr lang="en-US" sz="2799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1758" y="5333506"/>
            <a:ext cx="1816417" cy="1827841"/>
          </a:xfrm>
          <a:custGeom>
            <a:avLst/>
            <a:gdLst/>
            <a:ahLst/>
            <a:cxnLst/>
            <a:rect l="l" t="t" r="r" b="b"/>
            <a:pathLst>
              <a:path w="1816417" h="1827841">
                <a:moveTo>
                  <a:pt x="0" y="0"/>
                </a:moveTo>
                <a:lnTo>
                  <a:pt x="1816417" y="0"/>
                </a:lnTo>
                <a:lnTo>
                  <a:pt x="1816417" y="1827840"/>
                </a:lnTo>
                <a:lnTo>
                  <a:pt x="0" y="1827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641412" y="5837238"/>
            <a:ext cx="533996" cy="537354"/>
          </a:xfrm>
          <a:custGeom>
            <a:avLst/>
            <a:gdLst/>
            <a:ahLst/>
            <a:cxnLst/>
            <a:rect l="l" t="t" r="r" b="b"/>
            <a:pathLst>
              <a:path w="533996" h="537354">
                <a:moveTo>
                  <a:pt x="0" y="0"/>
                </a:moveTo>
                <a:lnTo>
                  <a:pt x="533995" y="0"/>
                </a:lnTo>
                <a:lnTo>
                  <a:pt x="533995" y="537354"/>
                </a:lnTo>
                <a:lnTo>
                  <a:pt x="0" y="5373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3E6CEA5-5A1E-4027-91E4-378184D92C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013" y="1478953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670362" y="2650726"/>
            <a:ext cx="6566276" cy="6607574"/>
          </a:xfrm>
          <a:custGeom>
            <a:avLst/>
            <a:gdLst/>
            <a:ahLst/>
            <a:cxnLst/>
            <a:rect l="l" t="t" r="r" b="b"/>
            <a:pathLst>
              <a:path w="6566276" h="6607574">
                <a:moveTo>
                  <a:pt x="0" y="0"/>
                </a:moveTo>
                <a:lnTo>
                  <a:pt x="6566276" y="0"/>
                </a:lnTo>
                <a:lnTo>
                  <a:pt x="6566276" y="6607574"/>
                </a:lnTo>
                <a:lnTo>
                  <a:pt x="0" y="66075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366868" y="3741586"/>
            <a:ext cx="1401914" cy="14019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19218" y="3741586"/>
            <a:ext cx="1401914" cy="140191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66868" y="6457785"/>
            <a:ext cx="1401914" cy="140191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519218" y="6457785"/>
            <a:ext cx="1401914" cy="140191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609693" y="1098700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8699" y="1602799"/>
            <a:ext cx="87249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Для решения каких задач создан </a:t>
            </a:r>
            <a:r>
              <a:rPr lang="ru-RU" sz="6500" b="1" spc="-162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28700" y="3690269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Решение задачи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411193" y="3690269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Соревнование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28700" y="6406468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Обучение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411193" y="6406468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Прогресс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536190" y="4112343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36190" y="6828542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88540" y="4112343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Z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88540" y="6828542"/>
            <a:ext cx="1063271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4202313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Доступ к структурированным задачам (предмет, класс, сложность).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2411193" y="4202313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Соревнование между пользователями с пересчетом рейтинга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Elo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28700" y="6918512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Поддержка обучения через официальный разбор и AI-пояснение.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2411193" y="6918512"/>
            <a:ext cx="4848107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Накопление и визуализация прогресса (статистика, достижения,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лидерборд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30B64C01-A037-4B3A-809B-AC2FB7EECE8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901" y="945422"/>
            <a:ext cx="18693799" cy="11400808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7" name="TextBox 7"/>
          <p:cNvSpPr txBox="1"/>
          <p:nvPr/>
        </p:nvSpPr>
        <p:spPr>
          <a:xfrm>
            <a:off x="1904998" y="2772644"/>
            <a:ext cx="14478000" cy="7078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112"/>
              </a:lnSpc>
            </a:pP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Пользовательский функционал в текущей реализации:</a:t>
            </a:r>
          </a:p>
          <a:p>
            <a:pPr>
              <a:lnSpc>
                <a:spcPts val="8112"/>
              </a:lnSpc>
            </a:pP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Аутентификация: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auth/register`, `/auth/login`, `/auth/me`, `/auth/logout`.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Каталог: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tasks`, `/tasks/filter` (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фильтры по 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subject/grade/difficulty).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Тренировка: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tasks/{id}`, `/tasks/{id}/solve`, `/tasks/{id}/solution`.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Визуализация условий из 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PDF: `/tasks/{id}/visual`, `/tasks/fragments/{name}`.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: WebSocket `/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ws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/{</a:t>
            </a:r>
            <a:r>
              <a:rPr lang="en-US" sz="2000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user_id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}`.</a:t>
            </a:r>
          </a:p>
          <a:p>
            <a:pPr>
              <a:lnSpc>
                <a:spcPts val="8112"/>
              </a:lnSpc>
            </a:pP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 </a:t>
            </a:r>
            <a:r>
              <a:rPr lang="ru-RU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Рейтинг и профиль: `/</a:t>
            </a:r>
            <a:r>
              <a:rPr lang="en-US" sz="2000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leaderboard`, `/users/{id}/stats`, `/users/{id}/achievements`, `/users/{id}/solutions`.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0128" y="1129183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5785942" y="6914008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650AB31-429A-4E2B-9E91-E2770A8EA79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6" name="TextBox 23">
            <a:extLst>
              <a:ext uri="{FF2B5EF4-FFF2-40B4-BE49-F238E27FC236}">
                <a16:creationId xmlns:a16="http://schemas.microsoft.com/office/drawing/2014/main" id="{26D11DBF-FAFE-4D09-80A6-5702E3D0264C}"/>
              </a:ext>
            </a:extLst>
          </p:cNvPr>
          <p:cNvSpPr txBox="1"/>
          <p:nvPr/>
        </p:nvSpPr>
        <p:spPr>
          <a:xfrm>
            <a:off x="952181" y="1509133"/>
            <a:ext cx="1687830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Функциональные возможности платформы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B1AC6D-8C1D-4EE9-91CC-894C1CD7CD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2058" y="3348901"/>
            <a:ext cx="4599656" cy="34619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2349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4370984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543347" y="-8442274"/>
            <a:ext cx="28727250" cy="287272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43865" y="-4841756"/>
            <a:ext cx="21526214" cy="215262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8529620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2688255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92054" y="1073137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699" y="1796470"/>
            <a:ext cx="10049373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Архитектура приложения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19449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200"/>
              </a:lnSpc>
            </a:pPr>
            <a:r>
              <a:rPr lang="en-US" sz="12000" b="1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78084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6720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5355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3041" y="5493996"/>
            <a:ext cx="3099604" cy="235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Frontend: HTML/CSS/JavaScript (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отдельные страницы 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main/catalog/training/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/leaderboard/profile/analytics)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38666" y="5493996"/>
            <a:ext cx="2812615" cy="2750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Backend: 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FastAPI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(`backend/app/main.py) — API 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и бизнес-логика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/>
            </a:r>
            <a:b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</a:b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Данные: 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SQLite + 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SQLAlchemy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ORM (`database.py`)</a:t>
            </a:r>
          </a:p>
          <a:p>
            <a:pPr algn="r">
              <a:lnSpc>
                <a:spcPts val="3079"/>
              </a:lnSpc>
            </a:pPr>
            <a:endParaRPr lang="en-US" sz="2000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10311" y="5493996"/>
            <a:ext cx="3099604" cy="235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PDF-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слой: </a:t>
            </a:r>
            <a:r>
              <a:rPr lang="ru-RU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парсинг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и рендер фрагментов (`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pdf_parser.py` + cache/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pdf_sources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cache/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pdf_fragments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cache/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task_crops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68407" y="5493996"/>
            <a:ext cx="3099604" cy="195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AI-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слой: локальный 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LLM-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провайдер (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Ollama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</a:t>
            </a:r>
            <a:r>
              <a:rPr lang="en-US" sz="2000" b="1" spc="-69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OpenAI</a:t>
            </a:r>
            <a:r>
              <a:rPr lang="en-US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-compatible API) </a:t>
            </a:r>
            <a:r>
              <a:rPr lang="ru-RU" sz="2000" b="1" spc="-69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 фоновой очередью генерации</a:t>
            </a:r>
            <a:endParaRPr lang="en-US" sz="2000" b="1" spc="-69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1078073" y="10287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143865" y="8609441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FADF29C-92D1-443A-A04D-C1754364EF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F075FD3-3578-4474-B98C-01DCCF5C4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811" y="1603065"/>
            <a:ext cx="5362564" cy="76212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2" name="Group 2"/>
          <p:cNvGrpSpPr/>
          <p:nvPr/>
        </p:nvGrpSpPr>
        <p:grpSpPr>
          <a:xfrm>
            <a:off x="-11506568" y="1263938"/>
            <a:ext cx="15988725" cy="1598872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41845" y="4143279"/>
            <a:ext cx="8280623" cy="6867622"/>
          </a:xfrm>
          <a:custGeom>
            <a:avLst/>
            <a:gdLst/>
            <a:ahLst/>
            <a:cxnLst/>
            <a:rect l="l" t="t" r="r" b="b"/>
            <a:pathLst>
              <a:path w="8280623" h="3902243">
                <a:moveTo>
                  <a:pt x="0" y="0"/>
                </a:moveTo>
                <a:lnTo>
                  <a:pt x="8280623" y="0"/>
                </a:lnTo>
                <a:lnTo>
                  <a:pt x="8280623" y="3902243"/>
                </a:lnTo>
                <a:lnTo>
                  <a:pt x="0" y="3902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5143500"/>
            <a:ext cx="956388" cy="9563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953436" y="1265625"/>
            <a:ext cx="6790962" cy="4254297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02528" y="109735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1796470"/>
            <a:ext cx="4649920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Структура и классы </a:t>
            </a:r>
            <a:r>
              <a:rPr lang="en-US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backend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31244" y="2180185"/>
            <a:ext cx="458821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Сервисные компоненты: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233243" y="5351170"/>
            <a:ext cx="4848107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Ключевые 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ORM-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классы (`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database.py`):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20433" y="2580070"/>
            <a:ext cx="4588217" cy="1903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MatchManager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 (`pvp_manager.py`) — 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очередь игроков, активные матчи, хранение 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WebSocket-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соединений.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Pydantic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схемы (`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schemas.py`):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UserRegister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UserLogin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UserProfileUpdate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en-US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TaskCreate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233243" y="6197556"/>
            <a:ext cx="4848107" cy="3186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аккаунт, профиль, рейтинг.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Task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условие, ответ, сложность, источники PDF, AI-поля.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Solution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попытка пользователя, корректность, баллы, факт просмотра решения.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Match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PvP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-матч, счет, победитель, статус.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UserStats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агрегированные метрики прогресса.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3365" y="5645243"/>
            <a:ext cx="4962354" cy="3738378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>
            <a:off x="4119047" y="8993629"/>
            <a:ext cx="1050069" cy="1056673"/>
          </a:xfrm>
          <a:custGeom>
            <a:avLst/>
            <a:gdLst/>
            <a:ahLst/>
            <a:cxnLst/>
            <a:rect l="l" t="t" r="r" b="b"/>
            <a:pathLst>
              <a:path w="1050069" h="1056673">
                <a:moveTo>
                  <a:pt x="0" y="0"/>
                </a:moveTo>
                <a:lnTo>
                  <a:pt x="1050069" y="0"/>
                </a:lnTo>
                <a:lnTo>
                  <a:pt x="1050069" y="1056674"/>
                </a:lnTo>
                <a:lnTo>
                  <a:pt x="0" y="10566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307581" y="114141"/>
            <a:ext cx="1817686" cy="1829118"/>
          </a:xfrm>
          <a:custGeom>
            <a:avLst/>
            <a:gdLst/>
            <a:ahLst/>
            <a:cxnLst/>
            <a:rect l="l" t="t" r="r" b="b"/>
            <a:pathLst>
              <a:path w="1817686" h="1829118">
                <a:moveTo>
                  <a:pt x="0" y="0"/>
                </a:moveTo>
                <a:lnTo>
                  <a:pt x="1817687" y="0"/>
                </a:lnTo>
                <a:lnTo>
                  <a:pt x="1817687" y="1829118"/>
                </a:lnTo>
                <a:lnTo>
                  <a:pt x="0" y="18291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83F9BEB-5F79-46E9-A165-35F7D6FF380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70397" y="6748716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7545" y="1513857"/>
            <a:ext cx="752269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 тренировки и проверки ответов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2520391" y="3253186"/>
            <a:ext cx="5333787" cy="6667234"/>
          </a:xfrm>
          <a:custGeom>
            <a:avLst/>
            <a:gdLst/>
            <a:ahLst/>
            <a:cxnLst/>
            <a:rect l="l" t="t" r="r" b="b"/>
            <a:pathLst>
              <a:path w="5333787" h="6667234">
                <a:moveTo>
                  <a:pt x="0" y="0"/>
                </a:moveTo>
                <a:lnTo>
                  <a:pt x="5333787" y="0"/>
                </a:lnTo>
                <a:lnTo>
                  <a:pt x="5333787" y="6667233"/>
                </a:lnTo>
                <a:lnTo>
                  <a:pt x="0" y="66672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12107" y="1101834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4573738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Получение решения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085782"/>
            <a:ext cx="5635693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Получение эталона из официального решения ВСОШ (если доступен)</a:t>
            </a:r>
            <a:r>
              <a:rPr lang="en-US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и получение/ожидание AI-эталона (если генерация еще идет).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7767893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Нормализация ответа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8279937"/>
            <a:ext cx="5635693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Нормализация форматов ответа (числа, варианты, группы,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компактизированные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ответы).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623607" y="1777212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Проверка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623607" y="2289256"/>
            <a:ext cx="5635693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Сравнение пользовательского ответа с эталоном и выдача статуса.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3173144" y="3872659"/>
            <a:ext cx="4086156" cy="5371208"/>
            <a:chOff x="0" y="0"/>
            <a:chExt cx="633053" cy="8321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3053" cy="832141"/>
            </a:xfrm>
            <a:custGeom>
              <a:avLst/>
              <a:gdLst/>
              <a:ahLst/>
              <a:cxnLst/>
              <a:rect l="l" t="t" r="r" b="b"/>
              <a:pathLst>
                <a:path w="633053" h="832141">
                  <a:moveTo>
                    <a:pt x="92839" y="0"/>
                  </a:moveTo>
                  <a:lnTo>
                    <a:pt x="540214" y="0"/>
                  </a:lnTo>
                  <a:cubicBezTo>
                    <a:pt x="564836" y="0"/>
                    <a:pt x="588450" y="9781"/>
                    <a:pt x="605861" y="27192"/>
                  </a:cubicBezTo>
                  <a:cubicBezTo>
                    <a:pt x="623271" y="44603"/>
                    <a:pt x="633053" y="68216"/>
                    <a:pt x="633053" y="92839"/>
                  </a:cubicBezTo>
                  <a:lnTo>
                    <a:pt x="633053" y="739302"/>
                  </a:lnTo>
                  <a:cubicBezTo>
                    <a:pt x="633053" y="790575"/>
                    <a:pt x="591487" y="832141"/>
                    <a:pt x="540214" y="832141"/>
                  </a:cubicBezTo>
                  <a:lnTo>
                    <a:pt x="92839" y="832141"/>
                  </a:lnTo>
                  <a:cubicBezTo>
                    <a:pt x="68216" y="832141"/>
                    <a:pt x="44603" y="822359"/>
                    <a:pt x="27192" y="804949"/>
                  </a:cubicBezTo>
                  <a:cubicBezTo>
                    <a:pt x="9781" y="787538"/>
                    <a:pt x="0" y="763924"/>
                    <a:pt x="0" y="739302"/>
                  </a:cubicBezTo>
                  <a:lnTo>
                    <a:pt x="0" y="92839"/>
                  </a:lnTo>
                  <a:cubicBezTo>
                    <a:pt x="0" y="68216"/>
                    <a:pt x="9781" y="44603"/>
                    <a:pt x="27192" y="27192"/>
                  </a:cubicBezTo>
                  <a:cubicBezTo>
                    <a:pt x="44603" y="9781"/>
                    <a:pt x="68216" y="0"/>
                    <a:pt x="92839" y="0"/>
                  </a:cubicBezTo>
                  <a:close/>
                </a:path>
              </a:pathLst>
            </a:custGeom>
            <a:blipFill>
              <a:blip r:embed="rId5"/>
              <a:stretch>
                <a:fillRect l="-65053" r="-65053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28700" y="6701091"/>
            <a:ext cx="2686437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ru-RU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№</a:t>
            </a:r>
            <a:r>
              <a:rPr lang="en-US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520514"/>
            <a:ext cx="2686437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ru-RU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№</a:t>
            </a:r>
            <a:r>
              <a:rPr lang="en-US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7752" y="1659876"/>
            <a:ext cx="2131380" cy="1064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ru-RU" sz="7500" b="1" spc="-187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№3</a:t>
            </a:r>
            <a:endParaRPr lang="en-US" sz="7500" b="1" spc="-187" dirty="0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8C52FF">
                      <a:alpha val="0"/>
                    </a:srgbClr>
                  </a:gs>
                </a:gsLst>
                <a:lin ang="5400000"/>
              </a:gra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266744" y="3032194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BC10086-2498-41C5-961E-31369073AD7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TextBox 16">
            <a:extLst>
              <a:ext uri="{FF2B5EF4-FFF2-40B4-BE49-F238E27FC236}">
                <a16:creationId xmlns:a16="http://schemas.microsoft.com/office/drawing/2014/main" id="{827E2FCD-47FC-4C61-9E87-80EAFC85BBBA}"/>
              </a:ext>
            </a:extLst>
          </p:cNvPr>
          <p:cNvSpPr txBox="1"/>
          <p:nvPr/>
        </p:nvSpPr>
        <p:spPr>
          <a:xfrm>
            <a:off x="13273721" y="4360406"/>
            <a:ext cx="5635693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Правила начисления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0228D885-C9E3-4ED3-904D-F588EC32C99B}"/>
              </a:ext>
            </a:extLst>
          </p:cNvPr>
          <p:cNvSpPr txBox="1"/>
          <p:nvPr/>
        </p:nvSpPr>
        <p:spPr>
          <a:xfrm>
            <a:off x="13373304" y="5055867"/>
            <a:ext cx="3819490" cy="2865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баллы начисляются только за первое корректное решение;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если пользователь открыл решение заранее, корректный ответ фиксируется, но без начисления баллов;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при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pending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AI-проверке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фронтенд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повторяет проверку автоматически, не теряя попытку.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B21D094-90AD-46D3-9F9E-CC97A097D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654" y="3853145"/>
            <a:ext cx="4832657" cy="54673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582135" y="-17967037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04814" y="2821995"/>
            <a:ext cx="2145222" cy="2156002"/>
          </a:xfrm>
          <a:custGeom>
            <a:avLst/>
            <a:gdLst/>
            <a:ahLst/>
            <a:cxnLst/>
            <a:rect l="l" t="t" r="r" b="b"/>
            <a:pathLst>
              <a:path w="2145222" h="2156002">
                <a:moveTo>
                  <a:pt x="0" y="0"/>
                </a:moveTo>
                <a:lnTo>
                  <a:pt x="2145222" y="0"/>
                </a:lnTo>
                <a:lnTo>
                  <a:pt x="2145222" y="2156002"/>
                </a:lnTo>
                <a:lnTo>
                  <a:pt x="0" y="215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04814" y="4962762"/>
            <a:ext cx="2145222" cy="2156002"/>
          </a:xfrm>
          <a:custGeom>
            <a:avLst/>
            <a:gdLst/>
            <a:ahLst/>
            <a:cxnLst/>
            <a:rect l="l" t="t" r="r" b="b"/>
            <a:pathLst>
              <a:path w="2145222" h="2156002">
                <a:moveTo>
                  <a:pt x="0" y="0"/>
                </a:moveTo>
                <a:lnTo>
                  <a:pt x="2145222" y="0"/>
                </a:lnTo>
                <a:lnTo>
                  <a:pt x="2145222" y="2156002"/>
                </a:lnTo>
                <a:lnTo>
                  <a:pt x="0" y="2156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19187" y="506753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68920" y="1026414"/>
            <a:ext cx="936709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Работа с PDF и AI-решениями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430162" y="3159457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PDF-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430162" y="5209637"/>
            <a:ext cx="4848107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AI-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3430162" y="3478981"/>
            <a:ext cx="6519053" cy="1262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система загружает PDF-источник задачи;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выделяет страницы/фрагменты условия;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показывает визуальные фрагменты и текстовую версию условия параллельно.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430162" y="5571181"/>
            <a:ext cx="6519053" cy="2865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формируется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промпт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на основе условия и метаданных задачи;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генерация запускается в фоне с ограничением параллелизма (очередь +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semaphore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);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хранятся статусы: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generating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ready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timeout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error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`,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unavailable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 и др.;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при сбоях возвращается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fallback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-объяснение с технической причиной и возможностью повторного запуска.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B3733F4-3D2A-4933-8659-900274A07A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365453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EC32203-EA29-45F3-A8D0-96C3C5251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8295" y="1542996"/>
            <a:ext cx="7000199" cy="78644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27434" y="1096782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29553" y="1675354"/>
            <a:ext cx="975684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ru-RU" sz="6500" b="1" spc="-162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ru-RU" sz="6500" b="1" spc="-162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 рейтинг и аналитика прогресса</a:t>
            </a:r>
            <a:endParaRPr lang="en-US" sz="6500" b="1" spc="-162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675047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65802" y="3817521"/>
            <a:ext cx="1048949" cy="1034628"/>
            <a:chOff x="0" y="0"/>
            <a:chExt cx="824051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51480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199" y="4950165"/>
            <a:ext cx="3553246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-</a:t>
            </a: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логика (`/</a:t>
            </a: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ws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</a:t>
            </a: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pvp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/{</a:t>
            </a:r>
            <a:r>
              <a:rPr lang="en-US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user_id</a:t>
            </a:r>
            <a:r>
              <a:rPr lang="en-US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}`)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3546" y="6374130"/>
            <a:ext cx="2949560" cy="3827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действие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find_match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постановка в очередь и подбор соперника;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обоим игрокам выдается одна задача;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действие `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submit_answer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`: прием и проверка ответа;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после двух ответов матч завершается и рассчитывается изменение рейтинга.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5560445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851200" y="3817521"/>
            <a:ext cx="1048949" cy="1034628"/>
            <a:chOff x="0" y="0"/>
            <a:chExt cx="824051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836878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2597" y="5119411"/>
            <a:ext cx="294956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Рейтинг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38944" y="6657299"/>
            <a:ext cx="2949560" cy="621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пересчет по формуле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Elo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(коэффициент K=32).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445843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736598" y="3817521"/>
            <a:ext cx="1048949" cy="1034628"/>
            <a:chOff x="0" y="0"/>
            <a:chExt cx="824051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22276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77995" y="5119411"/>
            <a:ext cx="294956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0"/>
              </a:lnSpc>
            </a:pPr>
            <a:r>
              <a:rPr lang="ru-RU" sz="3000" b="1" spc="-7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Прогресс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424342" y="6657299"/>
            <a:ext cx="2949560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лидерборд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 по рейтингу;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профиль со статистикой решений;</a:t>
            </a:r>
          </a:p>
          <a:p>
            <a:pPr>
              <a:lnSpc>
                <a:spcPts val="2520"/>
              </a:lnSpc>
            </a:pP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 достижения за решения, серии и </a:t>
            </a:r>
            <a:r>
              <a:rPr lang="ru-RU" dirty="0" err="1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PvP</a:t>
            </a:r>
            <a:r>
              <a:rPr lang="ru-RU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-результаты.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4956759" y="-15811746"/>
            <a:ext cx="17537499" cy="1753749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331241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3621996" y="3817521"/>
            <a:ext cx="1048949" cy="1034628"/>
            <a:chOff x="0" y="0"/>
            <a:chExt cx="824051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607674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63393" y="5119411"/>
            <a:ext cx="2949560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ru-RU" sz="3000" b="1" spc="-75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Аналатика</a:t>
            </a:r>
            <a:endParaRPr lang="en-US" sz="3000" b="1" spc="-7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4309740" y="6657299"/>
            <a:ext cx="2949560" cy="94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ru-RU" sz="1800" dirty="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-разные графики, статистика по задачам и другое.</a:t>
            </a:r>
            <a:endParaRPr lang="en-US" sz="1800" dirty="0">
              <a:solidFill>
                <a:srgbClr val="202020"/>
              </a:solidFill>
              <a:latin typeface="Codec Pro"/>
              <a:ea typeface="Codec Pro"/>
              <a:cs typeface="Codec Pro"/>
              <a:sym typeface="Codec Pro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028700" y="6374130"/>
            <a:ext cx="162306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37" name="AutoShape 37"/>
          <p:cNvSpPr/>
          <p:nvPr/>
        </p:nvSpPr>
        <p:spPr>
          <a:xfrm>
            <a:off x="2031012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38" name="AutoShape 38"/>
          <p:cNvSpPr/>
          <p:nvPr/>
        </p:nvSpPr>
        <p:spPr>
          <a:xfrm>
            <a:off x="5916410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39" name="AutoShape 39"/>
          <p:cNvSpPr/>
          <p:nvPr/>
        </p:nvSpPr>
        <p:spPr>
          <a:xfrm>
            <a:off x="9801808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40" name="AutoShape 40"/>
          <p:cNvSpPr/>
          <p:nvPr/>
        </p:nvSpPr>
        <p:spPr>
          <a:xfrm>
            <a:off x="13687206" y="6271205"/>
            <a:ext cx="422879" cy="560154"/>
          </a:xfrm>
          <a:prstGeom prst="line">
            <a:avLst/>
          </a:prstGeom>
          <a:ln>
            <a:headEnd type="oval" w="lg" len="lg"/>
            <a:tailEnd type="oval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sp>
      <p:sp>
        <p:nvSpPr>
          <p:cNvPr id="41" name="Freeform 41"/>
          <p:cNvSpPr/>
          <p:nvPr/>
        </p:nvSpPr>
        <p:spPr>
          <a:xfrm>
            <a:off x="13573557" y="7704266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5"/>
                </a:lnTo>
                <a:lnTo>
                  <a:pt x="0" y="2314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7863659" y="7870669"/>
            <a:ext cx="835846" cy="841103"/>
          </a:xfrm>
          <a:custGeom>
            <a:avLst/>
            <a:gdLst/>
            <a:ahLst/>
            <a:cxnLst/>
            <a:rect l="l" t="t" r="r" b="b"/>
            <a:pathLst>
              <a:path w="835846" h="841103">
                <a:moveTo>
                  <a:pt x="0" y="0"/>
                </a:moveTo>
                <a:lnTo>
                  <a:pt x="835846" y="0"/>
                </a:lnTo>
                <a:lnTo>
                  <a:pt x="835846" y="841103"/>
                </a:lnTo>
                <a:lnTo>
                  <a:pt x="0" y="841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EB69A9A3-C0F3-44C5-9E27-C6C315D89F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1B3F128-412A-4D76-A2E2-5317C0D82F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62379" y="254180"/>
            <a:ext cx="5922644" cy="347766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77124" y="-5774681"/>
            <a:ext cx="23030315" cy="230303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098350" y="-2995907"/>
            <a:ext cx="17472768" cy="174727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11443" y="-209001"/>
            <a:ext cx="11898955" cy="118989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431800" y="6174567"/>
            <a:ext cx="4206349" cy="3476849"/>
          </a:xfrm>
          <a:custGeom>
            <a:avLst/>
            <a:gdLst/>
            <a:ahLst/>
            <a:cxnLst/>
            <a:rect l="l" t="t" r="r" b="b"/>
            <a:pathLst>
              <a:path w="4206349" h="2355013">
                <a:moveTo>
                  <a:pt x="0" y="0"/>
                </a:moveTo>
                <a:lnTo>
                  <a:pt x="4206349" y="0"/>
                </a:lnTo>
                <a:lnTo>
                  <a:pt x="4206349" y="2355013"/>
                </a:lnTo>
                <a:lnTo>
                  <a:pt x="0" y="235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95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638149" y="6193618"/>
            <a:ext cx="4741955" cy="3457798"/>
          </a:xfrm>
          <a:custGeom>
            <a:avLst/>
            <a:gdLst/>
            <a:ahLst/>
            <a:cxnLst/>
            <a:rect l="l" t="t" r="r" b="b"/>
            <a:pathLst>
              <a:path w="4741955" h="2355013">
                <a:moveTo>
                  <a:pt x="0" y="0"/>
                </a:moveTo>
                <a:lnTo>
                  <a:pt x="4741955" y="0"/>
                </a:lnTo>
                <a:lnTo>
                  <a:pt x="4741955" y="2355013"/>
                </a:lnTo>
                <a:lnTo>
                  <a:pt x="0" y="235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97"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3" name="Freeform 13"/>
          <p:cNvSpPr/>
          <p:nvPr/>
        </p:nvSpPr>
        <p:spPr>
          <a:xfrm rot="5400000" flipV="1">
            <a:off x="-7280255" y="6301795"/>
            <a:ext cx="23836578" cy="11232987"/>
          </a:xfrm>
          <a:custGeom>
            <a:avLst/>
            <a:gdLst/>
            <a:ahLst/>
            <a:cxnLst/>
            <a:rect l="l" t="t" r="r" b="b"/>
            <a:pathLst>
              <a:path w="23836578" h="11232987">
                <a:moveTo>
                  <a:pt x="0" y="11232988"/>
                </a:moveTo>
                <a:lnTo>
                  <a:pt x="23836578" y="11232988"/>
                </a:lnTo>
                <a:lnTo>
                  <a:pt x="23836578" y="0"/>
                </a:lnTo>
                <a:lnTo>
                  <a:pt x="0" y="0"/>
                </a:lnTo>
                <a:lnTo>
                  <a:pt x="0" y="1123298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211727" y="656501"/>
            <a:ext cx="2262828" cy="2277060"/>
          </a:xfrm>
          <a:custGeom>
            <a:avLst/>
            <a:gdLst/>
            <a:ahLst/>
            <a:cxnLst/>
            <a:rect l="l" t="t" r="r" b="b"/>
            <a:pathLst>
              <a:path w="2262828" h="2277060">
                <a:moveTo>
                  <a:pt x="0" y="0"/>
                </a:moveTo>
                <a:lnTo>
                  <a:pt x="2262828" y="0"/>
                </a:lnTo>
                <a:lnTo>
                  <a:pt x="2262828" y="2277059"/>
                </a:lnTo>
                <a:lnTo>
                  <a:pt x="0" y="22770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687106" y="2750597"/>
            <a:ext cx="586943" cy="590634"/>
          </a:xfrm>
          <a:custGeom>
            <a:avLst/>
            <a:gdLst/>
            <a:ahLst/>
            <a:cxnLst/>
            <a:rect l="l" t="t" r="r" b="b"/>
            <a:pathLst>
              <a:path w="586943" h="590634">
                <a:moveTo>
                  <a:pt x="0" y="0"/>
                </a:moveTo>
                <a:lnTo>
                  <a:pt x="586943" y="0"/>
                </a:lnTo>
                <a:lnTo>
                  <a:pt x="586943" y="590634"/>
                </a:lnTo>
                <a:lnTo>
                  <a:pt x="0" y="590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201266" y="1881890"/>
            <a:ext cx="1026166" cy="1032620"/>
          </a:xfrm>
          <a:custGeom>
            <a:avLst/>
            <a:gdLst/>
            <a:ahLst/>
            <a:cxnLst/>
            <a:rect l="l" t="t" r="r" b="b"/>
            <a:pathLst>
              <a:path w="1026166" h="1032620">
                <a:moveTo>
                  <a:pt x="0" y="0"/>
                </a:moveTo>
                <a:lnTo>
                  <a:pt x="1026166" y="0"/>
                </a:lnTo>
                <a:lnTo>
                  <a:pt x="1026166" y="1032620"/>
                </a:lnTo>
                <a:lnTo>
                  <a:pt x="0" y="1032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622271" y="1097440"/>
            <a:ext cx="1814986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 dirty="0" err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EzOlimp</a:t>
            </a:r>
            <a:endParaRPr lang="en-US" sz="1900" b="1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963933" y="2855111"/>
            <a:ext cx="8349423" cy="347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4337"/>
              </a:lnSpc>
            </a:pPr>
            <a:r>
              <a:rPr lang="ru-RU" sz="8000" b="1" spc="-325" dirty="0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Заключение и развитие проекта</a:t>
            </a:r>
            <a:endParaRPr lang="en-US" sz="8000" b="1" spc="-325" dirty="0">
              <a:solidFill>
                <a:srgbClr val="202020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829481" y="8580203"/>
            <a:ext cx="3076941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687107" y="7103689"/>
            <a:ext cx="3570724" cy="13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700396" y="8183328"/>
            <a:ext cx="2774160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411064" y="6972300"/>
            <a:ext cx="7063492" cy="1877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endParaRPr lang="en-US" sz="1899" dirty="0">
              <a:solidFill>
                <a:srgbClr val="20202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48FCE753-4EE9-4710-B30D-0DA4CC5F86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64" y="945422"/>
            <a:ext cx="555333" cy="5553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9A311C6-2A40-4B43-9C17-64C65FAAED77}"/>
              </a:ext>
            </a:extLst>
          </p:cNvPr>
          <p:cNvSpPr txBox="1"/>
          <p:nvPr/>
        </p:nvSpPr>
        <p:spPr>
          <a:xfrm>
            <a:off x="1622271" y="2750597"/>
            <a:ext cx="5970728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Дальнейшее развитие:</a:t>
            </a:r>
          </a:p>
          <a:p>
            <a:r>
              <a:rPr lang="ru-RU" sz="3200" dirty="0"/>
              <a:t>- усиление безопасности авторизации (JWT/</a:t>
            </a:r>
            <a:r>
              <a:rPr lang="ru-RU" sz="3200" dirty="0" err="1"/>
              <a:t>refresh</a:t>
            </a:r>
            <a:r>
              <a:rPr lang="ru-RU" sz="3200" dirty="0"/>
              <a:t>, более строгая модель токенов);</a:t>
            </a:r>
          </a:p>
          <a:p>
            <a:r>
              <a:rPr lang="ru-RU" sz="3200" dirty="0"/>
              <a:t>- расширение аналитики (метрики по темам, времени решения, точности);</a:t>
            </a:r>
          </a:p>
          <a:p>
            <a:r>
              <a:rPr lang="ru-RU" sz="3200" dirty="0"/>
              <a:t>- масштабирование </a:t>
            </a:r>
            <a:r>
              <a:rPr lang="ru-RU" sz="3200" dirty="0" err="1"/>
              <a:t>PvP</a:t>
            </a:r>
            <a:r>
              <a:rPr lang="ru-RU" sz="3200" dirty="0"/>
              <a:t> и устойчивости </a:t>
            </a:r>
            <a:r>
              <a:rPr lang="ru-RU" sz="3200" dirty="0" err="1"/>
              <a:t>real-time</a:t>
            </a:r>
            <a:r>
              <a:rPr lang="ru-RU" sz="3200" dirty="0"/>
              <a:t> логики;</a:t>
            </a:r>
          </a:p>
          <a:p>
            <a:r>
              <a:rPr lang="ru-RU" sz="3200" dirty="0"/>
              <a:t>- улучшение качества AI-пояснений и контроля их надежности;</a:t>
            </a:r>
          </a:p>
          <a:p>
            <a:r>
              <a:rPr lang="ru-RU" sz="3200" dirty="0"/>
              <a:t>- переход к стабильному </a:t>
            </a:r>
            <a:r>
              <a:rPr lang="ru-RU" sz="3200" dirty="0" err="1"/>
              <a:t>продакшн</a:t>
            </a:r>
            <a:r>
              <a:rPr lang="ru-RU" sz="3200" dirty="0"/>
              <a:t>-развертыванию на домене.</a:t>
            </a:r>
          </a:p>
          <a:p>
            <a:endParaRPr lang="ru-RU" sz="3200" dirty="0">
              <a:latin typeface="Codec Pro" panose="020B060402020202020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0E8C8-BA1D-428C-B11D-0BBE8B1A84D0}"/>
              </a:ext>
            </a:extLst>
          </p:cNvPr>
          <p:cNvSpPr txBox="1"/>
          <p:nvPr/>
        </p:nvSpPr>
        <p:spPr>
          <a:xfrm>
            <a:off x="9374676" y="6996404"/>
            <a:ext cx="70634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Codec Pro" panose="020B0604020202020204" charset="0"/>
              </a:rPr>
              <a:t>Итог:</a:t>
            </a:r>
          </a:p>
          <a:p>
            <a:r>
              <a:rPr lang="ru-RU" sz="1600" dirty="0">
                <a:latin typeface="Codec Pro" panose="020B0604020202020204" charset="0"/>
              </a:rPr>
              <a:t>- </a:t>
            </a:r>
            <a:r>
              <a:rPr lang="ru-RU" sz="1600" dirty="0" err="1">
                <a:latin typeface="Codec Pro" panose="020B0604020202020204" charset="0"/>
              </a:rPr>
              <a:t>EzOlimp</a:t>
            </a:r>
            <a:r>
              <a:rPr lang="ru-RU" sz="1600" dirty="0">
                <a:latin typeface="Codec Pro" panose="020B0604020202020204" charset="0"/>
              </a:rPr>
              <a:t> реализует полный цикл подготовки: задача → ответ → проверка → разбор → метрики прогресса.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Codec Pro" panose="020B0604020202020204" charset="0"/>
              </a:rPr>
              <a:t>Кодовая база уже содержит ключевые компоненты: API-слой, доменную модель, PDF-</a:t>
            </a:r>
            <a:r>
              <a:rPr lang="ru-RU" sz="1600" dirty="0" err="1">
                <a:latin typeface="Codec Pro" panose="020B0604020202020204" charset="0"/>
              </a:rPr>
              <a:t>пайплайн</a:t>
            </a:r>
            <a:r>
              <a:rPr lang="ru-RU" sz="1600" dirty="0">
                <a:latin typeface="Codec Pro" panose="020B0604020202020204" charset="0"/>
              </a:rPr>
              <a:t>, AI-</a:t>
            </a:r>
            <a:r>
              <a:rPr lang="ru-RU" sz="1600" dirty="0" err="1">
                <a:latin typeface="Codec Pro" panose="020B0604020202020204" charset="0"/>
              </a:rPr>
              <a:t>пайплайн</a:t>
            </a:r>
            <a:r>
              <a:rPr lang="ru-RU" sz="1600" dirty="0">
                <a:latin typeface="Codec Pro" panose="020B0604020202020204" charset="0"/>
              </a:rPr>
              <a:t> и </a:t>
            </a:r>
            <a:r>
              <a:rPr lang="ru-RU" sz="1600" dirty="0" err="1">
                <a:latin typeface="Codec Pro" panose="020B0604020202020204" charset="0"/>
              </a:rPr>
              <a:t>PvP</a:t>
            </a:r>
            <a:r>
              <a:rPr lang="ru-RU" sz="1600" dirty="0">
                <a:latin typeface="Codec Pro" panose="020B0604020202020204" charset="0"/>
              </a:rPr>
              <a:t>-модуль.</a:t>
            </a:r>
            <a:endParaRPr lang="en-US" sz="1600" dirty="0">
              <a:latin typeface="Codec Pro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Codec Pro" panose="020B0604020202020204" charset="0"/>
              </a:rPr>
              <a:t>Сайт доступен на </a:t>
            </a:r>
            <a:r>
              <a:rPr lang="en-US" sz="1600" b="1" u="sng" dirty="0">
                <a:latin typeface="Codec Pro" panose="020B0604020202020204" charset="0"/>
              </a:rPr>
              <a:t>https://ezolimp.ru</a:t>
            </a:r>
            <a:endParaRPr lang="ru-RU" sz="1600" b="1" u="sng" dirty="0">
              <a:latin typeface="Codec Pro" panose="020B06040202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811</Words>
  <Application>Microsoft Office PowerPoint</Application>
  <PresentationFormat>Произвольный</PresentationFormat>
  <Paragraphs>120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Codec Pro Bold</vt:lpstr>
      <vt:lpstr>IBM Plex Sans</vt:lpstr>
      <vt:lpstr>Arial</vt:lpstr>
      <vt:lpstr>Calibri</vt:lpstr>
      <vt:lpstr>Codec Pro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Clean Business Strategic Plan Presentation</dc:title>
  <dc:creator>Максим Богушевич</dc:creator>
  <cp:lastModifiedBy>Ученик</cp:lastModifiedBy>
  <cp:revision>15</cp:revision>
  <dcterms:created xsi:type="dcterms:W3CDTF">2006-08-16T00:00:00Z</dcterms:created>
  <dcterms:modified xsi:type="dcterms:W3CDTF">2026-04-21T12:33:26Z</dcterms:modified>
  <dc:identifier>DAHD9b_Hnns</dc:identifier>
</cp:coreProperties>
</file>