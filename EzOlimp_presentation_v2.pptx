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odec Pro" panose="020B0604020202020204" charset="0"/>
      <p:regular r:id="rId16"/>
    </p:embeddedFont>
    <p:embeddedFont>
      <p:font typeface="Codec Pro Bold" panose="020B0604020202020204" charset="0"/>
      <p:regular r:id="rId17"/>
    </p:embeddedFont>
    <p:embeddedFont>
      <p:font typeface="IBM Plex San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59" autoAdjust="0"/>
    <p:restoredTop sz="95030" autoAdjust="0"/>
  </p:normalViewPr>
  <p:slideViewPr>
    <p:cSldViewPr>
      <p:cViewPr varScale="1">
        <p:scale>
          <a:sx n="71" d="100"/>
          <a:sy n="71" d="100"/>
        </p:scale>
        <p:origin x="1140" y="8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7.svg"/><Relationship Id="rId9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svg"/><Relationship Id="rId7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ezolimp.ru/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5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2971800"/>
            <a:ext cx="16230600" cy="162306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613935" y="-1386565"/>
            <a:ext cx="13060129" cy="130601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290693" y="290193"/>
            <a:ext cx="9706614" cy="970661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797783" y="7632904"/>
            <a:ext cx="2692434" cy="982738"/>
          </a:xfrm>
          <a:custGeom>
            <a:avLst/>
            <a:gdLst/>
            <a:ahLst/>
            <a:cxnLst/>
            <a:rect l="l" t="t" r="r" b="b"/>
            <a:pathLst>
              <a:path w="2692434" h="982738">
                <a:moveTo>
                  <a:pt x="0" y="0"/>
                </a:moveTo>
                <a:lnTo>
                  <a:pt x="2692434" y="0"/>
                </a:lnTo>
                <a:lnTo>
                  <a:pt x="2692434" y="982738"/>
                </a:lnTo>
                <a:lnTo>
                  <a:pt x="0" y="982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6147602" y="7840901"/>
            <a:ext cx="6220316" cy="774741"/>
            <a:chOff x="0" y="0"/>
            <a:chExt cx="604788" cy="1497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4788" cy="149780"/>
            </a:xfrm>
            <a:custGeom>
              <a:avLst/>
              <a:gdLst/>
              <a:ahLst/>
              <a:cxnLst/>
              <a:rect l="l" t="t" r="r" b="b"/>
              <a:pathLst>
                <a:path w="604788" h="149780">
                  <a:moveTo>
                    <a:pt x="74890" y="0"/>
                  </a:moveTo>
                  <a:lnTo>
                    <a:pt x="529898" y="0"/>
                  </a:lnTo>
                  <a:cubicBezTo>
                    <a:pt x="549760" y="0"/>
                    <a:pt x="568808" y="7890"/>
                    <a:pt x="582853" y="21935"/>
                  </a:cubicBezTo>
                  <a:cubicBezTo>
                    <a:pt x="596897" y="35979"/>
                    <a:pt x="604788" y="55028"/>
                    <a:pt x="604788" y="74890"/>
                  </a:cubicBezTo>
                  <a:lnTo>
                    <a:pt x="604788" y="74890"/>
                  </a:lnTo>
                  <a:cubicBezTo>
                    <a:pt x="604788" y="116250"/>
                    <a:pt x="571258" y="149780"/>
                    <a:pt x="529898" y="149780"/>
                  </a:cubicBezTo>
                  <a:lnTo>
                    <a:pt x="74890" y="149780"/>
                  </a:lnTo>
                  <a:cubicBezTo>
                    <a:pt x="33529" y="149780"/>
                    <a:pt x="0" y="116250"/>
                    <a:pt x="0" y="74890"/>
                  </a:cubicBezTo>
                  <a:lnTo>
                    <a:pt x="0" y="74890"/>
                  </a:lnTo>
                  <a:cubicBezTo>
                    <a:pt x="0" y="33529"/>
                    <a:pt x="33529" y="0"/>
                    <a:pt x="748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604788" cy="159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640914" y="4164359"/>
            <a:ext cx="1946042" cy="1958281"/>
          </a:xfrm>
          <a:custGeom>
            <a:avLst/>
            <a:gdLst/>
            <a:ahLst/>
            <a:cxnLst/>
            <a:rect l="l" t="t" r="r" b="b"/>
            <a:pathLst>
              <a:path w="1946042" h="1958281">
                <a:moveTo>
                  <a:pt x="0" y="0"/>
                </a:moveTo>
                <a:lnTo>
                  <a:pt x="1946042" y="0"/>
                </a:lnTo>
                <a:lnTo>
                  <a:pt x="1946042" y="1958282"/>
                </a:lnTo>
                <a:lnTo>
                  <a:pt x="0" y="19582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4368578" y="-867185"/>
            <a:ext cx="2300288" cy="2314755"/>
          </a:xfrm>
          <a:custGeom>
            <a:avLst/>
            <a:gdLst/>
            <a:ahLst/>
            <a:cxnLst/>
            <a:rect l="l" t="t" r="r" b="b"/>
            <a:pathLst>
              <a:path w="2300288" h="2314755">
                <a:moveTo>
                  <a:pt x="0" y="0"/>
                </a:moveTo>
                <a:lnTo>
                  <a:pt x="2300288" y="0"/>
                </a:lnTo>
                <a:lnTo>
                  <a:pt x="2300288" y="2314756"/>
                </a:lnTo>
                <a:lnTo>
                  <a:pt x="0" y="2314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431536" y="7480212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8"/>
                </a:lnTo>
                <a:lnTo>
                  <a:pt x="0" y="1071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919422" y="3841623"/>
            <a:ext cx="10449156" cy="1833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37"/>
              </a:lnSpc>
            </a:pPr>
            <a:r>
              <a:rPr lang="en-US" sz="13034" b="1" spc="-325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13034" b="1" spc="-32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399493" y="2128019"/>
            <a:ext cx="2090724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ru-RU" sz="1900" b="1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Платформа для подготовки к олимпиадам</a:t>
            </a:r>
            <a:endParaRPr lang="en-US" sz="1900" b="1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669220" y="7430218"/>
            <a:ext cx="2949560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ru-RU" sz="2000" spc="-80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Авторы:</a:t>
            </a:r>
            <a:endParaRPr lang="en-US" sz="2000" spc="-8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606983" y="7982177"/>
            <a:ext cx="5301554" cy="533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ru-RU" sz="2000" b="1" spc="-80" dirty="0">
                <a:solidFill>
                  <a:srgbClr val="F3FB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Богушевич Максим, Краснов Андрей, </a:t>
            </a:r>
            <a:br>
              <a:rPr lang="ru-RU" sz="2000" b="1" spc="-80" dirty="0">
                <a:solidFill>
                  <a:srgbClr val="F3FBFF"/>
                </a:solidFill>
                <a:latin typeface="Codec Pro Bold"/>
                <a:ea typeface="Codec Pro Bold"/>
                <a:cs typeface="Codec Pro Bold"/>
                <a:sym typeface="Codec Pro Bold"/>
              </a:rPr>
            </a:br>
            <a:r>
              <a:rPr lang="ru-RU" sz="1200" b="1" spc="-80" dirty="0" err="1">
                <a:solidFill>
                  <a:srgbClr val="F3FB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Бардеев</a:t>
            </a:r>
            <a:r>
              <a:rPr lang="ru-RU" sz="1200" b="1" spc="-80" dirty="0">
                <a:solidFill>
                  <a:srgbClr val="F3FB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Артем</a:t>
            </a:r>
            <a:endParaRPr lang="en-US" sz="1200" b="1" spc="-80" dirty="0">
              <a:solidFill>
                <a:srgbClr val="F3FBFF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0102469-6159-4A74-8E3A-C5C617ECD3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384" y="2205720"/>
            <a:ext cx="646797" cy="6467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313954" y="-7620415"/>
            <a:ext cx="13867841" cy="1386784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077853" y="6247426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1"/>
                </a:lnTo>
                <a:lnTo>
                  <a:pt x="0" y="3200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077853" y="3543380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0"/>
                </a:lnTo>
                <a:lnTo>
                  <a:pt x="0" y="3200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803415" y="6247426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1"/>
                </a:lnTo>
                <a:lnTo>
                  <a:pt x="0" y="3200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803415" y="3543380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0"/>
                </a:lnTo>
                <a:lnTo>
                  <a:pt x="0" y="3200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89226" y="1633530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1900" b="1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6863296"/>
            <a:ext cx="4023441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ru-RU" sz="6500" b="1" spc="-162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Введение: идея проекта</a:t>
            </a:r>
            <a:endParaRPr lang="en-US" sz="6500" b="1" spc="-162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1077853" y="839333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1"/>
                </a:lnTo>
                <a:lnTo>
                  <a:pt x="0" y="3200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803415" y="839333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1"/>
                </a:lnTo>
                <a:lnTo>
                  <a:pt x="0" y="3200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2265125"/>
            <a:ext cx="3587969" cy="62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sz="2000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Идея </a:t>
            </a:r>
            <a:r>
              <a:rPr lang="ru-RU" sz="2000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EzOlimp</a:t>
            </a:r>
            <a:r>
              <a:rPr lang="ru-RU" sz="2000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 — объединить в одном сервисе:</a:t>
            </a:r>
            <a:endParaRPr lang="en-US" sz="20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786836" y="1774291"/>
            <a:ext cx="1537353" cy="12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01.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86836" y="4478337"/>
            <a:ext cx="1537353" cy="12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03.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12303" y="1774291"/>
            <a:ext cx="1669809" cy="12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02.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12303" y="4478337"/>
            <a:ext cx="1669809" cy="12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04.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86836" y="7182384"/>
            <a:ext cx="1537353" cy="12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05.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12303" y="7182384"/>
            <a:ext cx="1669809" cy="12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06.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24624" y="1633530"/>
            <a:ext cx="3333024" cy="1590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79"/>
              </a:lnSpc>
            </a:pPr>
            <a:r>
              <a:rPr lang="ru-RU" sz="2799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банк олимпиадных задач по предметам и классам</a:t>
            </a:r>
            <a:endParaRPr lang="en-US" sz="2799" b="1" spc="-69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253440" y="4438922"/>
            <a:ext cx="3387099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79"/>
              </a:lnSpc>
            </a:pPr>
            <a:r>
              <a:rPr lang="ru-RU" sz="2799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соревновательный режим </a:t>
            </a:r>
            <a:r>
              <a:rPr lang="ru-RU" sz="2799" b="1" spc="-69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PvP</a:t>
            </a:r>
            <a:r>
              <a:rPr lang="ru-RU" sz="2799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1x1 в реальном времени</a:t>
            </a:r>
            <a:endParaRPr lang="en-US" sz="2799" b="1" spc="-69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3701163" y="1806705"/>
            <a:ext cx="3099604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79"/>
              </a:lnSpc>
            </a:pPr>
            <a:r>
              <a:rPr lang="ru-RU" sz="2799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тренировку с автоматической проверкой ответа</a:t>
            </a:r>
            <a:endParaRPr lang="en-US" sz="2799" b="1" spc="-69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682112" y="4342394"/>
            <a:ext cx="3462888" cy="1590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79"/>
              </a:lnSpc>
            </a:pPr>
            <a:r>
              <a:rPr lang="ru-RU" sz="2799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рейтинг, достижения и персональную статистику</a:t>
            </a:r>
            <a:endParaRPr lang="en-US" sz="2799" b="1" spc="-69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324189" y="7203904"/>
            <a:ext cx="3099604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ru-RU" sz="2799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персональный профиль пользователя</a:t>
            </a:r>
            <a:endParaRPr lang="en-US" sz="2799" b="1" spc="-69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701163" y="7122285"/>
            <a:ext cx="2150331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ru-RU" sz="2799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разбор решений: ВСОШ и </a:t>
            </a:r>
            <a:r>
              <a:rPr lang="en-US" sz="2799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AI</a:t>
            </a:r>
          </a:p>
        </p:txBody>
      </p:sp>
      <p:sp>
        <p:nvSpPr>
          <p:cNvPr id="27" name="Freeform 27"/>
          <p:cNvSpPr/>
          <p:nvPr/>
        </p:nvSpPr>
        <p:spPr>
          <a:xfrm>
            <a:off x="711758" y="5333506"/>
            <a:ext cx="1816417" cy="1827841"/>
          </a:xfrm>
          <a:custGeom>
            <a:avLst/>
            <a:gdLst/>
            <a:ahLst/>
            <a:cxnLst/>
            <a:rect l="l" t="t" r="r" b="b"/>
            <a:pathLst>
              <a:path w="1816417" h="1827841">
                <a:moveTo>
                  <a:pt x="0" y="0"/>
                </a:moveTo>
                <a:lnTo>
                  <a:pt x="1816417" y="0"/>
                </a:lnTo>
                <a:lnTo>
                  <a:pt x="1816417" y="1827840"/>
                </a:lnTo>
                <a:lnTo>
                  <a:pt x="0" y="18278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2641412" y="5837238"/>
            <a:ext cx="533996" cy="537354"/>
          </a:xfrm>
          <a:custGeom>
            <a:avLst/>
            <a:gdLst/>
            <a:ahLst/>
            <a:cxnLst/>
            <a:rect l="l" t="t" r="r" b="b"/>
            <a:pathLst>
              <a:path w="533996" h="537354">
                <a:moveTo>
                  <a:pt x="0" y="0"/>
                </a:moveTo>
                <a:lnTo>
                  <a:pt x="533995" y="0"/>
                </a:lnTo>
                <a:lnTo>
                  <a:pt x="533995" y="537354"/>
                </a:lnTo>
                <a:lnTo>
                  <a:pt x="0" y="5373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3E6CEA5-5A1E-4027-91E4-378184D92C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13" y="1478953"/>
            <a:ext cx="555333" cy="5553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210079" y="-979407"/>
            <a:ext cx="13867841" cy="1386784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670362" y="2650726"/>
            <a:ext cx="6566276" cy="6607574"/>
          </a:xfrm>
          <a:custGeom>
            <a:avLst/>
            <a:gdLst/>
            <a:ahLst/>
            <a:cxnLst/>
            <a:rect l="l" t="t" r="r" b="b"/>
            <a:pathLst>
              <a:path w="6566276" h="6607574">
                <a:moveTo>
                  <a:pt x="0" y="0"/>
                </a:moveTo>
                <a:lnTo>
                  <a:pt x="6566276" y="0"/>
                </a:lnTo>
                <a:lnTo>
                  <a:pt x="6566276" y="6607574"/>
                </a:lnTo>
                <a:lnTo>
                  <a:pt x="0" y="66075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971937" y="3340728"/>
            <a:ext cx="2189857" cy="2203630"/>
          </a:xfrm>
          <a:custGeom>
            <a:avLst/>
            <a:gdLst/>
            <a:ahLst/>
            <a:cxnLst/>
            <a:rect l="l" t="t" r="r" b="b"/>
            <a:pathLst>
              <a:path w="2189857" h="2203630">
                <a:moveTo>
                  <a:pt x="0" y="0"/>
                </a:moveTo>
                <a:lnTo>
                  <a:pt x="2189857" y="0"/>
                </a:lnTo>
                <a:lnTo>
                  <a:pt x="2189857" y="2203630"/>
                </a:lnTo>
                <a:lnTo>
                  <a:pt x="0" y="2203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6366868" y="3741586"/>
            <a:ext cx="1401914" cy="140191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519218" y="3741586"/>
            <a:ext cx="1401914" cy="140191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366868" y="6457785"/>
            <a:ext cx="1401914" cy="140191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519218" y="6457785"/>
            <a:ext cx="1401914" cy="140191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1751810" y="-867185"/>
            <a:ext cx="2300288" cy="2314755"/>
          </a:xfrm>
          <a:custGeom>
            <a:avLst/>
            <a:gdLst/>
            <a:ahLst/>
            <a:cxnLst/>
            <a:rect l="l" t="t" r="r" b="b"/>
            <a:pathLst>
              <a:path w="2300288" h="2314755">
                <a:moveTo>
                  <a:pt x="0" y="0"/>
                </a:moveTo>
                <a:lnTo>
                  <a:pt x="2300289" y="0"/>
                </a:lnTo>
                <a:lnTo>
                  <a:pt x="2300289" y="2314756"/>
                </a:lnTo>
                <a:lnTo>
                  <a:pt x="0" y="2314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2453890" y="8722356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8"/>
                </a:lnTo>
                <a:lnTo>
                  <a:pt x="0" y="10718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609693" y="1098700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1900" b="1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28699" y="1602799"/>
            <a:ext cx="87249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ru-RU" sz="6500" b="1" spc="-162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Для решения каких задач создан </a:t>
            </a:r>
            <a:r>
              <a:rPr lang="ru-RU" sz="6500" b="1" spc="-162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6500" b="1" spc="-162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28700" y="3690269"/>
            <a:ext cx="4848107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Решение задачи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2411193" y="3690269"/>
            <a:ext cx="4848107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Соревнование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28700" y="6406468"/>
            <a:ext cx="4848107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Обучение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411193" y="6406468"/>
            <a:ext cx="4848107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Прогресс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536190" y="4112343"/>
            <a:ext cx="1063271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1" spc="-99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36190" y="6828542"/>
            <a:ext cx="1063271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1" spc="-9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688540" y="4112343"/>
            <a:ext cx="1063271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1" spc="-9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Z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688540" y="6828542"/>
            <a:ext cx="1063271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1" spc="-9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8700" y="4202313"/>
            <a:ext cx="4848107" cy="62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Доступ к структурированным задачам (предмет, класс, сложность).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2411193" y="4202313"/>
            <a:ext cx="4848107" cy="62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Соревнование между пользователями с пересчетом рейтинга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Elo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28700" y="6918512"/>
            <a:ext cx="4848107" cy="62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Поддержка обучения через официальный разбор и AI-пояснение.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2411193" y="6918512"/>
            <a:ext cx="4848107" cy="62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Накопление и визуализация прогресса (статистика, достижения,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лидерборд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).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30B64C01-A037-4B3A-809B-AC2FB7EECE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4" y="945422"/>
            <a:ext cx="555333" cy="5553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15055" y="-285445"/>
            <a:ext cx="10857890" cy="1085789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02901" y="945422"/>
            <a:ext cx="18693799" cy="11400808"/>
          </a:xfrm>
          <a:custGeom>
            <a:avLst/>
            <a:gdLst/>
            <a:ahLst/>
            <a:cxnLst/>
            <a:rect l="l" t="t" r="r" b="b"/>
            <a:pathLst>
              <a:path w="18693799" h="8809453">
                <a:moveTo>
                  <a:pt x="0" y="0"/>
                </a:moveTo>
                <a:lnTo>
                  <a:pt x="18693798" y="0"/>
                </a:lnTo>
                <a:lnTo>
                  <a:pt x="18693798" y="8809452"/>
                </a:lnTo>
                <a:lnTo>
                  <a:pt x="0" y="88094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7" name="TextBox 7"/>
          <p:cNvSpPr txBox="1"/>
          <p:nvPr/>
        </p:nvSpPr>
        <p:spPr>
          <a:xfrm>
            <a:off x="1904998" y="2845667"/>
            <a:ext cx="14478000" cy="7078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12"/>
              </a:lnSpc>
            </a:pPr>
            <a:r>
              <a:rPr lang="ru-RU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Пользовательский функционал в текущей реализации:</a:t>
            </a:r>
          </a:p>
          <a:p>
            <a:pPr>
              <a:lnSpc>
                <a:spcPts val="8112"/>
              </a:lnSpc>
            </a:pPr>
            <a:r>
              <a:rPr lang="ru-RU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- Аутентификация: `/</a:t>
            </a: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auth/register`, `/auth/login`, `/auth/me`, `/auth/logout`.</a:t>
            </a:r>
          </a:p>
          <a:p>
            <a:pPr>
              <a:lnSpc>
                <a:spcPts val="8112"/>
              </a:lnSpc>
            </a:pP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- </a:t>
            </a:r>
            <a:r>
              <a:rPr lang="ru-RU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Каталог: `/</a:t>
            </a: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tasks`, `/tasks/filter` (</a:t>
            </a:r>
            <a:r>
              <a:rPr lang="ru-RU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фильтры по </a:t>
            </a: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subject/grade/difficulty).</a:t>
            </a:r>
          </a:p>
          <a:p>
            <a:pPr>
              <a:lnSpc>
                <a:spcPts val="8112"/>
              </a:lnSpc>
            </a:pP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- </a:t>
            </a:r>
            <a:r>
              <a:rPr lang="ru-RU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Тренировка: `/</a:t>
            </a: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tasks/{id}`, `/tasks/{id}/solve`, `/tasks/{id}/solution`.</a:t>
            </a:r>
          </a:p>
          <a:p>
            <a:pPr>
              <a:lnSpc>
                <a:spcPts val="8112"/>
              </a:lnSpc>
            </a:pP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- </a:t>
            </a:r>
            <a:r>
              <a:rPr lang="ru-RU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Визуализация условий из </a:t>
            </a: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PDF: `/tasks/{id}/visual`, `/tasks/fragments/{name}`.</a:t>
            </a:r>
          </a:p>
          <a:p>
            <a:pPr>
              <a:lnSpc>
                <a:spcPts val="8112"/>
              </a:lnSpc>
            </a:pP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- </a:t>
            </a:r>
            <a:r>
              <a:rPr lang="en-US" sz="2000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PvP</a:t>
            </a: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: WebSocket `/</a:t>
            </a:r>
            <a:r>
              <a:rPr lang="en-US" sz="2000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ws</a:t>
            </a: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/</a:t>
            </a:r>
            <a:r>
              <a:rPr lang="en-US" sz="2000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pvp</a:t>
            </a: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/{</a:t>
            </a:r>
            <a:r>
              <a:rPr lang="en-US" sz="2000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user_id</a:t>
            </a: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}`.</a:t>
            </a:r>
          </a:p>
          <a:p>
            <a:pPr>
              <a:lnSpc>
                <a:spcPts val="8112"/>
              </a:lnSpc>
            </a:pP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- </a:t>
            </a:r>
            <a:r>
              <a:rPr lang="ru-RU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Рейтинг и профиль: `/</a:t>
            </a: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leaderboard`, `/users/{id}/stats`, `/users/{id}/achievements`, `/users/{id}/solutions`.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0128" y="1129183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1900" b="1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5785942" y="6914008"/>
            <a:ext cx="2044541" cy="2057400"/>
          </a:xfrm>
          <a:custGeom>
            <a:avLst/>
            <a:gdLst/>
            <a:ahLst/>
            <a:cxnLst/>
            <a:rect l="l" t="t" r="r" b="b"/>
            <a:pathLst>
              <a:path w="2044541" h="2057400">
                <a:moveTo>
                  <a:pt x="0" y="0"/>
                </a:moveTo>
                <a:lnTo>
                  <a:pt x="2044541" y="0"/>
                </a:lnTo>
                <a:lnTo>
                  <a:pt x="204454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114949" y="492756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8"/>
                </a:lnTo>
                <a:lnTo>
                  <a:pt x="0" y="10718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650AB31-429A-4E2B-9E91-E2770A8EA79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4" y="945422"/>
            <a:ext cx="555333" cy="5553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6" name="TextBox 23">
            <a:extLst>
              <a:ext uri="{FF2B5EF4-FFF2-40B4-BE49-F238E27FC236}">
                <a16:creationId xmlns:a16="http://schemas.microsoft.com/office/drawing/2014/main" id="{26D11DBF-FAFE-4D09-80A6-5702E3D0264C}"/>
              </a:ext>
            </a:extLst>
          </p:cNvPr>
          <p:cNvSpPr txBox="1"/>
          <p:nvPr/>
        </p:nvSpPr>
        <p:spPr>
          <a:xfrm>
            <a:off x="952181" y="1509133"/>
            <a:ext cx="16878302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ru-RU" sz="6500" b="1" spc="-162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Функциональные возможности платформы</a:t>
            </a:r>
            <a:endParaRPr lang="en-US" sz="6500" b="1" spc="-162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4B1AC6D-8C1D-4EE9-91CC-894C1CD7CD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02058" y="3348901"/>
            <a:ext cx="4599656" cy="346195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12349" y="3656404"/>
            <a:ext cx="5387396" cy="4518679"/>
          </a:xfrm>
          <a:custGeom>
            <a:avLst/>
            <a:gdLst/>
            <a:ahLst/>
            <a:cxnLst/>
            <a:rect l="l" t="t" r="r" b="b"/>
            <a:pathLst>
              <a:path w="5387396" h="4518679">
                <a:moveTo>
                  <a:pt x="0" y="0"/>
                </a:moveTo>
                <a:lnTo>
                  <a:pt x="5387396" y="0"/>
                </a:lnTo>
                <a:lnTo>
                  <a:pt x="5387396" y="4518678"/>
                </a:lnTo>
                <a:lnTo>
                  <a:pt x="0" y="4518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4370984" y="3656404"/>
            <a:ext cx="5387396" cy="4518679"/>
          </a:xfrm>
          <a:custGeom>
            <a:avLst/>
            <a:gdLst/>
            <a:ahLst/>
            <a:cxnLst/>
            <a:rect l="l" t="t" r="r" b="b"/>
            <a:pathLst>
              <a:path w="5387396" h="4518679">
                <a:moveTo>
                  <a:pt x="0" y="0"/>
                </a:moveTo>
                <a:lnTo>
                  <a:pt x="5387396" y="0"/>
                </a:lnTo>
                <a:lnTo>
                  <a:pt x="5387396" y="4518678"/>
                </a:lnTo>
                <a:lnTo>
                  <a:pt x="0" y="4518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1543347" y="-8442274"/>
            <a:ext cx="28727250" cy="2872725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143865" y="-4841756"/>
            <a:ext cx="21526214" cy="2152621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8529620" y="3656404"/>
            <a:ext cx="5387396" cy="4518679"/>
          </a:xfrm>
          <a:custGeom>
            <a:avLst/>
            <a:gdLst/>
            <a:ahLst/>
            <a:cxnLst/>
            <a:rect l="l" t="t" r="r" b="b"/>
            <a:pathLst>
              <a:path w="5387396" h="4518679">
                <a:moveTo>
                  <a:pt x="0" y="0"/>
                </a:moveTo>
                <a:lnTo>
                  <a:pt x="5387396" y="0"/>
                </a:lnTo>
                <a:lnTo>
                  <a:pt x="5387396" y="4518678"/>
                </a:lnTo>
                <a:lnTo>
                  <a:pt x="0" y="4518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5400000">
            <a:off x="12688255" y="3656404"/>
            <a:ext cx="5387396" cy="4518679"/>
          </a:xfrm>
          <a:custGeom>
            <a:avLst/>
            <a:gdLst/>
            <a:ahLst/>
            <a:cxnLst/>
            <a:rect l="l" t="t" r="r" b="b"/>
            <a:pathLst>
              <a:path w="5387396" h="4518679">
                <a:moveTo>
                  <a:pt x="0" y="0"/>
                </a:moveTo>
                <a:lnTo>
                  <a:pt x="5387396" y="0"/>
                </a:lnTo>
                <a:lnTo>
                  <a:pt x="5387396" y="4518678"/>
                </a:lnTo>
                <a:lnTo>
                  <a:pt x="0" y="4518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92054" y="1073137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1900" b="1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699" y="1796470"/>
            <a:ext cx="10049373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ru-RU" sz="6500" b="1" spc="-162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Архитектура приложения</a:t>
            </a:r>
            <a:endParaRPr lang="en-US" sz="6500" b="1" spc="-162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19449" y="3860800"/>
            <a:ext cx="2973196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200"/>
              </a:lnSpc>
            </a:pPr>
            <a:r>
              <a:rPr lang="en-US" sz="12000" b="1" spc="-3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78084" y="3860800"/>
            <a:ext cx="2973196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200"/>
              </a:lnSpc>
              <a:spcBef>
                <a:spcPct val="0"/>
              </a:spcBef>
            </a:pPr>
            <a:r>
              <a:rPr lang="en-US" sz="12000" b="1" u="none" strike="noStrike" spc="-3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36720" y="3860800"/>
            <a:ext cx="2973196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200"/>
              </a:lnSpc>
              <a:spcBef>
                <a:spcPct val="0"/>
              </a:spcBef>
            </a:pPr>
            <a:r>
              <a:rPr lang="en-US" sz="12000" b="1" u="none" strike="noStrike" spc="-3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95355" y="3860800"/>
            <a:ext cx="2973196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200"/>
              </a:lnSpc>
              <a:spcBef>
                <a:spcPct val="0"/>
              </a:spcBef>
            </a:pPr>
            <a:r>
              <a:rPr lang="en-US" sz="12000" b="1" u="none" strike="noStrike" spc="-3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3041" y="5493996"/>
            <a:ext cx="3099604" cy="2352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Frontend: HTML/CSS/JavaScript (</a:t>
            </a:r>
            <a:r>
              <a:rPr lang="ru-RU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отдельные страницы 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main/catalog/training/</a:t>
            </a:r>
            <a:r>
              <a:rPr lang="en-US" sz="2000" b="1" spc="-69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pvp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/leaderboard/profile/analytics)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38666" y="5493996"/>
            <a:ext cx="2812615" cy="2750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Backend: </a:t>
            </a:r>
            <a:r>
              <a:rPr lang="en-US" sz="2000" b="1" spc="-69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FastAPI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(`backend/app/</a:t>
            </a:r>
            <a:r>
              <a:rPr lang="ru-RU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…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) — API </a:t>
            </a:r>
            <a:r>
              <a:rPr lang="ru-RU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и основная логика</a:t>
            </a:r>
            <a:b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</a:br>
            <a:r>
              <a:rPr lang="ru-RU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Данные: 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SQLite + </a:t>
            </a:r>
            <a:r>
              <a:rPr lang="en-US" sz="2000" b="1" spc="-69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SQLAlchemy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ORM (`database.py`)</a:t>
            </a:r>
          </a:p>
          <a:p>
            <a:pPr algn="r">
              <a:lnSpc>
                <a:spcPts val="3079"/>
              </a:lnSpc>
            </a:pPr>
            <a:endParaRPr lang="en-US" sz="2000" b="1" spc="-69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610311" y="5493996"/>
            <a:ext cx="3099604" cy="2352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PDF-</a:t>
            </a:r>
            <a:r>
              <a:rPr lang="ru-RU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слой: </a:t>
            </a:r>
            <a:r>
              <a:rPr lang="ru-RU" sz="2000" b="1" spc="-69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парсинг</a:t>
            </a:r>
            <a:r>
              <a:rPr lang="ru-RU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и рендер фрагментов (`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pdf_parser.py` + cache/</a:t>
            </a:r>
            <a:r>
              <a:rPr lang="en-US" sz="2000" b="1" spc="-69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pdf_sources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, cache/</a:t>
            </a:r>
            <a:r>
              <a:rPr lang="en-US" sz="2000" b="1" spc="-69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pdf_fragments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, cache/</a:t>
            </a:r>
            <a:r>
              <a:rPr lang="en-US" sz="2000" b="1" spc="-69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task_crops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768407" y="5493996"/>
            <a:ext cx="3099604" cy="1955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AI-</a:t>
            </a:r>
            <a:r>
              <a:rPr lang="ru-RU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слой: локальный 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LLM-</a:t>
            </a:r>
            <a:r>
              <a:rPr lang="ru-RU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провайдер (</a:t>
            </a:r>
            <a:r>
              <a:rPr lang="en-US" sz="2000" b="1" spc="-69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Ollama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/</a:t>
            </a:r>
            <a:r>
              <a:rPr lang="en-US" sz="2000" b="1" spc="-69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OpenAI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-compatible API) </a:t>
            </a:r>
            <a:r>
              <a:rPr lang="ru-RU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с фоновой очередью генерации</a:t>
            </a:r>
            <a:endParaRPr lang="en-US" sz="2000" b="1" spc="-69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11078073" y="1028700"/>
            <a:ext cx="2044541" cy="2057400"/>
          </a:xfrm>
          <a:custGeom>
            <a:avLst/>
            <a:gdLst/>
            <a:ahLst/>
            <a:cxnLst/>
            <a:rect l="l" t="t" r="r" b="b"/>
            <a:pathLst>
              <a:path w="2044541" h="2057400">
                <a:moveTo>
                  <a:pt x="0" y="0"/>
                </a:moveTo>
                <a:lnTo>
                  <a:pt x="2044541" y="0"/>
                </a:lnTo>
                <a:lnTo>
                  <a:pt x="204454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5143865" y="8609441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9"/>
                </a:lnTo>
                <a:lnTo>
                  <a:pt x="0" y="10718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FADF29C-92D1-443A-A04D-C1754364EFD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4" y="945422"/>
            <a:ext cx="555333" cy="5553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6F075FD3-3578-4474-B98C-01DCCF5C4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811" y="1603065"/>
            <a:ext cx="5362564" cy="76212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2" name="Group 2"/>
          <p:cNvGrpSpPr/>
          <p:nvPr/>
        </p:nvGrpSpPr>
        <p:grpSpPr>
          <a:xfrm>
            <a:off x="-11506568" y="1263938"/>
            <a:ext cx="15988725" cy="1598872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41845" y="4143279"/>
            <a:ext cx="8280623" cy="6867622"/>
          </a:xfrm>
          <a:custGeom>
            <a:avLst/>
            <a:gdLst/>
            <a:ahLst/>
            <a:cxnLst/>
            <a:rect l="l" t="t" r="r" b="b"/>
            <a:pathLst>
              <a:path w="8280623" h="3902243">
                <a:moveTo>
                  <a:pt x="0" y="0"/>
                </a:moveTo>
                <a:lnTo>
                  <a:pt x="8280623" y="0"/>
                </a:lnTo>
                <a:lnTo>
                  <a:pt x="8280623" y="3902243"/>
                </a:lnTo>
                <a:lnTo>
                  <a:pt x="0" y="39022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28700" y="5143500"/>
            <a:ext cx="956388" cy="95638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953436" y="1265625"/>
            <a:ext cx="6790962" cy="4254297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1"/>
                </a:lnTo>
                <a:lnTo>
                  <a:pt x="0" y="32002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602528" y="1097354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1900" b="1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1796470"/>
            <a:ext cx="4649920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ru-RU" sz="6500" b="1" spc="-162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Структура и классы </a:t>
            </a:r>
            <a:r>
              <a:rPr lang="en-US" sz="6500" b="1" spc="-162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backend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31244" y="2180185"/>
            <a:ext cx="4588217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Сервисные компоненты: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233243" y="5351170"/>
            <a:ext cx="4848107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Ключевые </a:t>
            </a:r>
            <a:r>
              <a:rPr lang="en-US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ORM-</a:t>
            </a: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классы (`</a:t>
            </a:r>
            <a:r>
              <a:rPr lang="en-US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database.py`):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20433" y="2580070"/>
            <a:ext cx="4588217" cy="19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`</a:t>
            </a:r>
            <a:r>
              <a:rPr lang="en-US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MatchManager</a:t>
            </a:r>
            <a:r>
              <a:rPr lang="en-US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 (`pvp_manager.py`) — 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очередь игроков, активные матчи, хранение </a:t>
            </a:r>
            <a:r>
              <a:rPr lang="en-US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WebSocket-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соединений.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</a:t>
            </a:r>
            <a:r>
              <a:rPr lang="en-US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Pydantic</a:t>
            </a:r>
            <a:r>
              <a:rPr lang="en-US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схемы (`</a:t>
            </a:r>
            <a:r>
              <a:rPr lang="en-US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schemas.py`): `</a:t>
            </a:r>
            <a:r>
              <a:rPr lang="en-US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UserRegister</a:t>
            </a:r>
            <a:r>
              <a:rPr lang="en-US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`, `</a:t>
            </a:r>
            <a:r>
              <a:rPr lang="en-US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UserLogin</a:t>
            </a:r>
            <a:r>
              <a:rPr lang="en-US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`, `</a:t>
            </a:r>
            <a:r>
              <a:rPr lang="en-US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UserProfileUpdate</a:t>
            </a:r>
            <a:r>
              <a:rPr lang="en-US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`, `</a:t>
            </a:r>
            <a:r>
              <a:rPr lang="en-US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TaskCreate</a:t>
            </a:r>
            <a:r>
              <a:rPr lang="en-US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233243" y="6197556"/>
            <a:ext cx="4848107" cy="3186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User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`: аккаунт, профиль, рейтинг.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Task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`: условие, ответ, сложность, источники PDF, AI-поля.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Solution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`: попытка пользователя, корректность, баллы, факт просмотра решения.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Match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`: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PvP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-матч, счет, победитель, статус.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UserStats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`: агрегированные метрики прогресса.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33365" y="5645243"/>
            <a:ext cx="4962354" cy="3738378"/>
          </a:xfrm>
          <a:prstGeom prst="rect">
            <a:avLst/>
          </a:prstGeom>
        </p:spPr>
      </p:pic>
      <p:sp>
        <p:nvSpPr>
          <p:cNvPr id="22" name="Freeform 22"/>
          <p:cNvSpPr/>
          <p:nvPr/>
        </p:nvSpPr>
        <p:spPr>
          <a:xfrm>
            <a:off x="4119047" y="8993629"/>
            <a:ext cx="1050069" cy="1056673"/>
          </a:xfrm>
          <a:custGeom>
            <a:avLst/>
            <a:gdLst/>
            <a:ahLst/>
            <a:cxnLst/>
            <a:rect l="l" t="t" r="r" b="b"/>
            <a:pathLst>
              <a:path w="1050069" h="1056673">
                <a:moveTo>
                  <a:pt x="0" y="0"/>
                </a:moveTo>
                <a:lnTo>
                  <a:pt x="1050069" y="0"/>
                </a:lnTo>
                <a:lnTo>
                  <a:pt x="1050069" y="1056674"/>
                </a:lnTo>
                <a:lnTo>
                  <a:pt x="0" y="10566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6307581" y="114141"/>
            <a:ext cx="1817686" cy="1829118"/>
          </a:xfrm>
          <a:custGeom>
            <a:avLst/>
            <a:gdLst/>
            <a:ahLst/>
            <a:cxnLst/>
            <a:rect l="l" t="t" r="r" b="b"/>
            <a:pathLst>
              <a:path w="1817686" h="1829118">
                <a:moveTo>
                  <a:pt x="0" y="0"/>
                </a:moveTo>
                <a:lnTo>
                  <a:pt x="1817687" y="0"/>
                </a:lnTo>
                <a:lnTo>
                  <a:pt x="1817687" y="1829118"/>
                </a:lnTo>
                <a:lnTo>
                  <a:pt x="0" y="18291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E83F9BEB-5F79-46E9-A165-35F7D6FF380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4" y="945422"/>
            <a:ext cx="555333" cy="5553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770397" y="6748716"/>
            <a:ext cx="22833773" cy="2283377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87545" y="1513857"/>
            <a:ext cx="7522696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ru-RU" sz="6500" b="1" spc="-162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Логика тренировки и проверки ответов</a:t>
            </a:r>
            <a:endParaRPr lang="en-US" sz="6500" b="1" spc="-162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2520391" y="3253186"/>
            <a:ext cx="5333787" cy="6667234"/>
          </a:xfrm>
          <a:custGeom>
            <a:avLst/>
            <a:gdLst/>
            <a:ahLst/>
            <a:cxnLst/>
            <a:rect l="l" t="t" r="r" b="b"/>
            <a:pathLst>
              <a:path w="5333787" h="6667234">
                <a:moveTo>
                  <a:pt x="0" y="0"/>
                </a:moveTo>
                <a:lnTo>
                  <a:pt x="5333787" y="0"/>
                </a:lnTo>
                <a:lnTo>
                  <a:pt x="5333787" y="6667233"/>
                </a:lnTo>
                <a:lnTo>
                  <a:pt x="0" y="66672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12107" y="1101834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1900" b="1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4573738"/>
            <a:ext cx="5635693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Получение решения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5085782"/>
            <a:ext cx="5635693" cy="94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Получение эталона из официального решения ВСОШ (если доступен)</a:t>
            </a:r>
            <a:r>
              <a:rPr lang="en-US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и получение/ожидание AI-эталона (если генерация еще идет).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7767893"/>
            <a:ext cx="5635693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Нормализация ответа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8279937"/>
            <a:ext cx="5635693" cy="62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Нормализация форматов ответа (числа, варианты, группы,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компактизированные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 ответы).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623607" y="1777212"/>
            <a:ext cx="5635693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Проверка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623607" y="2289256"/>
            <a:ext cx="5635693" cy="62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Сравнение пользовательского ответа с эталоном и выдача статуса.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3173144" y="3872659"/>
            <a:ext cx="4086156" cy="5371208"/>
            <a:chOff x="0" y="0"/>
            <a:chExt cx="633053" cy="83214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3053" cy="832141"/>
            </a:xfrm>
            <a:custGeom>
              <a:avLst/>
              <a:gdLst/>
              <a:ahLst/>
              <a:cxnLst/>
              <a:rect l="l" t="t" r="r" b="b"/>
              <a:pathLst>
                <a:path w="633053" h="832141">
                  <a:moveTo>
                    <a:pt x="92839" y="0"/>
                  </a:moveTo>
                  <a:lnTo>
                    <a:pt x="540214" y="0"/>
                  </a:lnTo>
                  <a:cubicBezTo>
                    <a:pt x="564836" y="0"/>
                    <a:pt x="588450" y="9781"/>
                    <a:pt x="605861" y="27192"/>
                  </a:cubicBezTo>
                  <a:cubicBezTo>
                    <a:pt x="623271" y="44603"/>
                    <a:pt x="633053" y="68216"/>
                    <a:pt x="633053" y="92839"/>
                  </a:cubicBezTo>
                  <a:lnTo>
                    <a:pt x="633053" y="739302"/>
                  </a:lnTo>
                  <a:cubicBezTo>
                    <a:pt x="633053" y="790575"/>
                    <a:pt x="591487" y="832141"/>
                    <a:pt x="540214" y="832141"/>
                  </a:cubicBezTo>
                  <a:lnTo>
                    <a:pt x="92839" y="832141"/>
                  </a:lnTo>
                  <a:cubicBezTo>
                    <a:pt x="68216" y="832141"/>
                    <a:pt x="44603" y="822359"/>
                    <a:pt x="27192" y="804949"/>
                  </a:cubicBezTo>
                  <a:cubicBezTo>
                    <a:pt x="9781" y="787538"/>
                    <a:pt x="0" y="763924"/>
                    <a:pt x="0" y="739302"/>
                  </a:cubicBezTo>
                  <a:lnTo>
                    <a:pt x="0" y="92839"/>
                  </a:lnTo>
                  <a:cubicBezTo>
                    <a:pt x="0" y="68216"/>
                    <a:pt x="9781" y="44603"/>
                    <a:pt x="27192" y="27192"/>
                  </a:cubicBezTo>
                  <a:cubicBezTo>
                    <a:pt x="44603" y="9781"/>
                    <a:pt x="68216" y="0"/>
                    <a:pt x="92839" y="0"/>
                  </a:cubicBezTo>
                  <a:close/>
                </a:path>
              </a:pathLst>
            </a:custGeom>
            <a:blipFill>
              <a:blip r:embed="rId5"/>
              <a:stretch>
                <a:fillRect l="-65053" r="-65053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028700" y="6701091"/>
            <a:ext cx="2686437" cy="1064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lang="ru-RU" sz="7500" b="1" spc="-187" dirty="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№</a:t>
            </a:r>
            <a:r>
              <a:rPr lang="en-US" sz="7500" b="1" spc="-187" dirty="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3520514"/>
            <a:ext cx="2686437" cy="1064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lang="ru-RU" sz="7500" b="1" spc="-187" dirty="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№</a:t>
            </a:r>
            <a:r>
              <a:rPr lang="en-US" sz="7500" b="1" spc="-187" dirty="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97752" y="1659876"/>
            <a:ext cx="2131380" cy="1064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lang="ru-RU" sz="7500" b="1" spc="-187" dirty="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№3</a:t>
            </a:r>
            <a:endParaRPr lang="en-US" sz="7500" b="1" spc="-187" dirty="0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8C52FF">
                      <a:alpha val="0"/>
                    </a:srgbClr>
                  </a:gs>
                </a:gsLst>
                <a:lin ang="5400000"/>
              </a:gra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6266744" y="3032194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9"/>
                </a:lnTo>
                <a:lnTo>
                  <a:pt x="0" y="10718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BC10086-2498-41C5-961E-31369073AD7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4" y="945422"/>
            <a:ext cx="555333" cy="5553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TextBox 16">
            <a:extLst>
              <a:ext uri="{FF2B5EF4-FFF2-40B4-BE49-F238E27FC236}">
                <a16:creationId xmlns:a16="http://schemas.microsoft.com/office/drawing/2014/main" id="{827E2FCD-47FC-4C61-9E87-80EAFC85BBBA}"/>
              </a:ext>
            </a:extLst>
          </p:cNvPr>
          <p:cNvSpPr txBox="1"/>
          <p:nvPr/>
        </p:nvSpPr>
        <p:spPr>
          <a:xfrm>
            <a:off x="13273721" y="4360406"/>
            <a:ext cx="5635693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Правила начисления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0228D885-C9E3-4ED3-904D-F588EC32C99B}"/>
              </a:ext>
            </a:extLst>
          </p:cNvPr>
          <p:cNvSpPr txBox="1"/>
          <p:nvPr/>
        </p:nvSpPr>
        <p:spPr>
          <a:xfrm>
            <a:off x="13373304" y="5055867"/>
            <a:ext cx="3819490" cy="2865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баллы начисляются только за первое корректное решение;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если пользователь открыл решение заранее, корректный ответ фиксируется, но без начисления баллов;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при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pending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 AI-проверке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фронтенд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 повторяет проверку автоматически, не теряя попытку.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7B21D094-90AD-46D3-9F9E-CC97A097D2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7654" y="3853145"/>
            <a:ext cx="4832657" cy="54673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582135" y="-17967037"/>
            <a:ext cx="22833773" cy="2283377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536055" y="6070975"/>
            <a:ext cx="5295031" cy="2525158"/>
            <a:chOff x="0" y="0"/>
            <a:chExt cx="1394576" cy="6650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94576" cy="665062"/>
            </a:xfrm>
            <a:custGeom>
              <a:avLst/>
              <a:gdLst/>
              <a:ahLst/>
              <a:cxnLst/>
              <a:rect l="l" t="t" r="r" b="b"/>
              <a:pathLst>
                <a:path w="1394576" h="665062">
                  <a:moveTo>
                    <a:pt x="0" y="0"/>
                  </a:moveTo>
                  <a:lnTo>
                    <a:pt x="1394576" y="0"/>
                  </a:lnTo>
                  <a:lnTo>
                    <a:pt x="1394576" y="665062"/>
                  </a:lnTo>
                  <a:lnTo>
                    <a:pt x="0" y="665062"/>
                  </a:lnTo>
                  <a:close/>
                </a:path>
              </a:pathLst>
            </a:custGeom>
            <a:gradFill rotWithShape="1">
              <a:gsLst>
                <a:gs pos="0">
                  <a:srgbClr val="E7E8ED">
                    <a:alpha val="0"/>
                  </a:srgbClr>
                </a:gs>
                <a:gs pos="100000">
                  <a:srgbClr val="E7E8E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394576" cy="674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04814" y="2821995"/>
            <a:ext cx="2145222" cy="2156002"/>
          </a:xfrm>
          <a:custGeom>
            <a:avLst/>
            <a:gdLst/>
            <a:ahLst/>
            <a:cxnLst/>
            <a:rect l="l" t="t" r="r" b="b"/>
            <a:pathLst>
              <a:path w="2145222" h="2156002">
                <a:moveTo>
                  <a:pt x="0" y="0"/>
                </a:moveTo>
                <a:lnTo>
                  <a:pt x="2145222" y="0"/>
                </a:lnTo>
                <a:lnTo>
                  <a:pt x="2145222" y="2156002"/>
                </a:lnTo>
                <a:lnTo>
                  <a:pt x="0" y="21560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04814" y="4962762"/>
            <a:ext cx="2145222" cy="2156002"/>
          </a:xfrm>
          <a:custGeom>
            <a:avLst/>
            <a:gdLst/>
            <a:ahLst/>
            <a:cxnLst/>
            <a:rect l="l" t="t" r="r" b="b"/>
            <a:pathLst>
              <a:path w="2145222" h="2156002">
                <a:moveTo>
                  <a:pt x="0" y="0"/>
                </a:moveTo>
                <a:lnTo>
                  <a:pt x="2145222" y="0"/>
                </a:lnTo>
                <a:lnTo>
                  <a:pt x="2145222" y="2156002"/>
                </a:lnTo>
                <a:lnTo>
                  <a:pt x="0" y="21560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619187" y="506753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1900" b="1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7451042" y="1028700"/>
            <a:ext cx="1957951" cy="1970265"/>
          </a:xfrm>
          <a:custGeom>
            <a:avLst/>
            <a:gdLst/>
            <a:ahLst/>
            <a:cxnLst/>
            <a:rect l="l" t="t" r="r" b="b"/>
            <a:pathLst>
              <a:path w="1957951" h="1970265">
                <a:moveTo>
                  <a:pt x="0" y="0"/>
                </a:moveTo>
                <a:lnTo>
                  <a:pt x="1957951" y="0"/>
                </a:lnTo>
                <a:lnTo>
                  <a:pt x="1957951" y="1970265"/>
                </a:lnTo>
                <a:lnTo>
                  <a:pt x="0" y="19702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968920" y="1026414"/>
            <a:ext cx="9367096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ru-RU" sz="6500" b="1" spc="-162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Работа с PDF и AI-решениями</a:t>
            </a:r>
            <a:endParaRPr lang="en-US" sz="6500" b="1" spc="-162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430162" y="3159457"/>
            <a:ext cx="4848107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PDF-</a:t>
            </a: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логика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430162" y="5209637"/>
            <a:ext cx="4848107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AI-</a:t>
            </a: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логика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430162" y="3478981"/>
            <a:ext cx="6519053" cy="1262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система загружает PDF-источник задачи;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выделяет страницы/фрагменты условия;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показывает визуальные фрагменты и текстовую версию условия параллельно.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430162" y="5571181"/>
            <a:ext cx="6519053" cy="2865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формируется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промпт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 на основе условия и метаданных задачи;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генерация запускается в фоне с ограничением параллелизма (очередь +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semaphore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);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хранятся статусы: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generating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`,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ready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`,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timeout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`,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error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`,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unavailable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 и др.;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при сбоях возвращается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fallback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-объяснение с технической причиной и возможностью повторного запуска.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7090932" y="666326"/>
            <a:ext cx="720219" cy="724748"/>
          </a:xfrm>
          <a:custGeom>
            <a:avLst/>
            <a:gdLst/>
            <a:ahLst/>
            <a:cxnLst/>
            <a:rect l="l" t="t" r="r" b="b"/>
            <a:pathLst>
              <a:path w="720219" h="724748">
                <a:moveTo>
                  <a:pt x="0" y="0"/>
                </a:moveTo>
                <a:lnTo>
                  <a:pt x="720219" y="0"/>
                </a:lnTo>
                <a:lnTo>
                  <a:pt x="720219" y="724748"/>
                </a:lnTo>
                <a:lnTo>
                  <a:pt x="0" y="724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0B3733F4-3D2A-4933-8659-900274A07A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4" y="365453"/>
            <a:ext cx="555333" cy="5553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CEC32203-EA29-45F3-A8D0-96C3C52512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8295" y="1542996"/>
            <a:ext cx="7000199" cy="78644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27434" y="1096782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1900" b="1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29553" y="1675354"/>
            <a:ext cx="9756847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ru-RU" sz="6500" b="1" spc="-162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PvP</a:t>
            </a:r>
            <a:r>
              <a:rPr lang="ru-RU" sz="6500" b="1" spc="-162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, рейтинг и аналитика прогресса</a:t>
            </a:r>
            <a:endParaRPr lang="en-US" sz="6500" b="1" spc="-162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675047" y="3521683"/>
            <a:ext cx="1616138" cy="1626303"/>
          </a:xfrm>
          <a:custGeom>
            <a:avLst/>
            <a:gdLst/>
            <a:ahLst/>
            <a:cxnLst/>
            <a:rect l="l" t="t" r="r" b="b"/>
            <a:pathLst>
              <a:path w="1616138" h="1626303">
                <a:moveTo>
                  <a:pt x="0" y="0"/>
                </a:moveTo>
                <a:lnTo>
                  <a:pt x="1616138" y="0"/>
                </a:lnTo>
                <a:lnTo>
                  <a:pt x="1616138" y="1626303"/>
                </a:lnTo>
                <a:lnTo>
                  <a:pt x="0" y="16263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965802" y="3817521"/>
            <a:ext cx="1048949" cy="1034628"/>
            <a:chOff x="0" y="0"/>
            <a:chExt cx="824051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4051" cy="812800"/>
            </a:xfrm>
            <a:custGeom>
              <a:avLst/>
              <a:gdLst/>
              <a:ahLst/>
              <a:cxnLst/>
              <a:rect l="l" t="t" r="r" b="b"/>
              <a:pathLst>
                <a:path w="824051" h="812800">
                  <a:moveTo>
                    <a:pt x="125471" y="0"/>
                  </a:moveTo>
                  <a:lnTo>
                    <a:pt x="698580" y="0"/>
                  </a:lnTo>
                  <a:cubicBezTo>
                    <a:pt x="767876" y="0"/>
                    <a:pt x="824051" y="56175"/>
                    <a:pt x="824051" y="125471"/>
                  </a:cubicBezTo>
                  <a:lnTo>
                    <a:pt x="824051" y="687329"/>
                  </a:lnTo>
                  <a:cubicBezTo>
                    <a:pt x="824051" y="756625"/>
                    <a:pt x="767876" y="812800"/>
                    <a:pt x="698580" y="812800"/>
                  </a:cubicBezTo>
                  <a:lnTo>
                    <a:pt x="125471" y="812800"/>
                  </a:lnTo>
                  <a:cubicBezTo>
                    <a:pt x="56175" y="812800"/>
                    <a:pt x="0" y="756625"/>
                    <a:pt x="0" y="687329"/>
                  </a:cubicBezTo>
                  <a:lnTo>
                    <a:pt x="0" y="125471"/>
                  </a:lnTo>
                  <a:cubicBezTo>
                    <a:pt x="0" y="56175"/>
                    <a:pt x="56175" y="0"/>
                    <a:pt x="1254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824051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951480" y="4077660"/>
            <a:ext cx="1063271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1" spc="-75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07199" y="4950165"/>
            <a:ext cx="3553246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000" b="1" spc="-75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PvP</a:t>
            </a:r>
            <a:r>
              <a:rPr lang="en-US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-</a:t>
            </a: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логика (`/</a:t>
            </a:r>
            <a:r>
              <a:rPr lang="en-US" sz="3000" b="1" spc="-75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ws</a:t>
            </a:r>
            <a:r>
              <a:rPr lang="en-US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/</a:t>
            </a:r>
            <a:r>
              <a:rPr lang="en-US" sz="3000" b="1" spc="-75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pvp</a:t>
            </a:r>
            <a:r>
              <a:rPr lang="en-US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/{</a:t>
            </a:r>
            <a:r>
              <a:rPr lang="en-US" sz="3000" b="1" spc="-75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user_id</a:t>
            </a:r>
            <a:r>
              <a:rPr lang="en-US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}`)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53546" y="6374130"/>
            <a:ext cx="2949560" cy="3827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действие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find_match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`: постановка в очередь и подбор соперника;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обоим игрокам выдается одна задача;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действие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submit_answer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`: прием и проверка ответа;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после двух ответов матч завершается и рассчитывается изменение рейтинга.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5560445" y="3521683"/>
            <a:ext cx="1616138" cy="1626303"/>
          </a:xfrm>
          <a:custGeom>
            <a:avLst/>
            <a:gdLst/>
            <a:ahLst/>
            <a:cxnLst/>
            <a:rect l="l" t="t" r="r" b="b"/>
            <a:pathLst>
              <a:path w="1616138" h="1626303">
                <a:moveTo>
                  <a:pt x="0" y="0"/>
                </a:moveTo>
                <a:lnTo>
                  <a:pt x="1616138" y="0"/>
                </a:lnTo>
                <a:lnTo>
                  <a:pt x="1616138" y="1626303"/>
                </a:lnTo>
                <a:lnTo>
                  <a:pt x="0" y="16263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5851200" y="3817521"/>
            <a:ext cx="1048949" cy="1034628"/>
            <a:chOff x="0" y="0"/>
            <a:chExt cx="824051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24051" cy="812800"/>
            </a:xfrm>
            <a:custGeom>
              <a:avLst/>
              <a:gdLst/>
              <a:ahLst/>
              <a:cxnLst/>
              <a:rect l="l" t="t" r="r" b="b"/>
              <a:pathLst>
                <a:path w="824051" h="812800">
                  <a:moveTo>
                    <a:pt x="125471" y="0"/>
                  </a:moveTo>
                  <a:lnTo>
                    <a:pt x="698580" y="0"/>
                  </a:lnTo>
                  <a:cubicBezTo>
                    <a:pt x="767876" y="0"/>
                    <a:pt x="824051" y="56175"/>
                    <a:pt x="824051" y="125471"/>
                  </a:cubicBezTo>
                  <a:lnTo>
                    <a:pt x="824051" y="687329"/>
                  </a:lnTo>
                  <a:cubicBezTo>
                    <a:pt x="824051" y="756625"/>
                    <a:pt x="767876" y="812800"/>
                    <a:pt x="698580" y="812800"/>
                  </a:cubicBezTo>
                  <a:lnTo>
                    <a:pt x="125471" y="812800"/>
                  </a:lnTo>
                  <a:cubicBezTo>
                    <a:pt x="56175" y="812800"/>
                    <a:pt x="0" y="756625"/>
                    <a:pt x="0" y="687329"/>
                  </a:cubicBezTo>
                  <a:lnTo>
                    <a:pt x="0" y="125471"/>
                  </a:lnTo>
                  <a:cubicBezTo>
                    <a:pt x="0" y="56175"/>
                    <a:pt x="56175" y="0"/>
                    <a:pt x="1254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824051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836878" y="4077660"/>
            <a:ext cx="1063271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1" spc="-75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92597" y="5119411"/>
            <a:ext cx="2949560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Рейтинг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538944" y="6657299"/>
            <a:ext cx="2949560" cy="62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пересчет по формуле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Elo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 (коэффициент K=32).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9445843" y="3521683"/>
            <a:ext cx="1616138" cy="1626303"/>
          </a:xfrm>
          <a:custGeom>
            <a:avLst/>
            <a:gdLst/>
            <a:ahLst/>
            <a:cxnLst/>
            <a:rect l="l" t="t" r="r" b="b"/>
            <a:pathLst>
              <a:path w="1616138" h="1626303">
                <a:moveTo>
                  <a:pt x="0" y="0"/>
                </a:moveTo>
                <a:lnTo>
                  <a:pt x="1616138" y="0"/>
                </a:lnTo>
                <a:lnTo>
                  <a:pt x="1616138" y="1626303"/>
                </a:lnTo>
                <a:lnTo>
                  <a:pt x="0" y="16263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9736598" y="3817521"/>
            <a:ext cx="1048949" cy="1034628"/>
            <a:chOff x="0" y="0"/>
            <a:chExt cx="824051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24051" cy="812800"/>
            </a:xfrm>
            <a:custGeom>
              <a:avLst/>
              <a:gdLst/>
              <a:ahLst/>
              <a:cxnLst/>
              <a:rect l="l" t="t" r="r" b="b"/>
              <a:pathLst>
                <a:path w="824051" h="812800">
                  <a:moveTo>
                    <a:pt x="125471" y="0"/>
                  </a:moveTo>
                  <a:lnTo>
                    <a:pt x="698580" y="0"/>
                  </a:lnTo>
                  <a:cubicBezTo>
                    <a:pt x="767876" y="0"/>
                    <a:pt x="824051" y="56175"/>
                    <a:pt x="824051" y="125471"/>
                  </a:cubicBezTo>
                  <a:lnTo>
                    <a:pt x="824051" y="687329"/>
                  </a:lnTo>
                  <a:cubicBezTo>
                    <a:pt x="824051" y="756625"/>
                    <a:pt x="767876" y="812800"/>
                    <a:pt x="698580" y="812800"/>
                  </a:cubicBezTo>
                  <a:lnTo>
                    <a:pt x="125471" y="812800"/>
                  </a:lnTo>
                  <a:cubicBezTo>
                    <a:pt x="56175" y="812800"/>
                    <a:pt x="0" y="756625"/>
                    <a:pt x="0" y="687329"/>
                  </a:cubicBezTo>
                  <a:lnTo>
                    <a:pt x="0" y="125471"/>
                  </a:lnTo>
                  <a:cubicBezTo>
                    <a:pt x="0" y="56175"/>
                    <a:pt x="56175" y="0"/>
                    <a:pt x="1254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824051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722276" y="4077660"/>
            <a:ext cx="1063271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1" spc="-75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77995" y="5119411"/>
            <a:ext cx="2949560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Прогресс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424342" y="6657299"/>
            <a:ext cx="2949560" cy="19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лидерборд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 по </a:t>
            </a:r>
            <a:r>
              <a:rPr lang="en-US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elo</a:t>
            </a:r>
            <a:r>
              <a:rPr lang="en-US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и балам;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профиль со статистикой решений;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достижения за решения, серии и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PvP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-результаты.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4956759" y="-15811746"/>
            <a:ext cx="17537499" cy="17537499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3331241" y="3521683"/>
            <a:ext cx="1616138" cy="1626303"/>
          </a:xfrm>
          <a:custGeom>
            <a:avLst/>
            <a:gdLst/>
            <a:ahLst/>
            <a:cxnLst/>
            <a:rect l="l" t="t" r="r" b="b"/>
            <a:pathLst>
              <a:path w="1616138" h="1626303">
                <a:moveTo>
                  <a:pt x="0" y="0"/>
                </a:moveTo>
                <a:lnTo>
                  <a:pt x="1616138" y="0"/>
                </a:lnTo>
                <a:lnTo>
                  <a:pt x="1616138" y="1626303"/>
                </a:lnTo>
                <a:lnTo>
                  <a:pt x="0" y="16263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13621996" y="3817521"/>
            <a:ext cx="1048949" cy="1034628"/>
            <a:chOff x="0" y="0"/>
            <a:chExt cx="824051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24051" cy="812800"/>
            </a:xfrm>
            <a:custGeom>
              <a:avLst/>
              <a:gdLst/>
              <a:ahLst/>
              <a:cxnLst/>
              <a:rect l="l" t="t" r="r" b="b"/>
              <a:pathLst>
                <a:path w="824051" h="812800">
                  <a:moveTo>
                    <a:pt x="125471" y="0"/>
                  </a:moveTo>
                  <a:lnTo>
                    <a:pt x="698580" y="0"/>
                  </a:lnTo>
                  <a:cubicBezTo>
                    <a:pt x="767876" y="0"/>
                    <a:pt x="824051" y="56175"/>
                    <a:pt x="824051" y="125471"/>
                  </a:cubicBezTo>
                  <a:lnTo>
                    <a:pt x="824051" y="687329"/>
                  </a:lnTo>
                  <a:cubicBezTo>
                    <a:pt x="824051" y="756625"/>
                    <a:pt x="767876" y="812800"/>
                    <a:pt x="698580" y="812800"/>
                  </a:cubicBezTo>
                  <a:lnTo>
                    <a:pt x="125471" y="812800"/>
                  </a:lnTo>
                  <a:cubicBezTo>
                    <a:pt x="56175" y="812800"/>
                    <a:pt x="0" y="756625"/>
                    <a:pt x="0" y="687329"/>
                  </a:cubicBezTo>
                  <a:lnTo>
                    <a:pt x="0" y="125471"/>
                  </a:lnTo>
                  <a:cubicBezTo>
                    <a:pt x="0" y="56175"/>
                    <a:pt x="56175" y="0"/>
                    <a:pt x="1254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824051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3607674" y="4077660"/>
            <a:ext cx="1063271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1" spc="-75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663393" y="5119411"/>
            <a:ext cx="2949560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ru-RU" sz="3000" b="1" spc="-75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Аналатика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4309740" y="6657299"/>
            <a:ext cx="2949560" cy="94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ru-RU" sz="1800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-разные графики, статистика по задачам и другое.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1028700" y="6374130"/>
            <a:ext cx="1623060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sp>
      <p:sp>
        <p:nvSpPr>
          <p:cNvPr id="37" name="AutoShape 37"/>
          <p:cNvSpPr/>
          <p:nvPr/>
        </p:nvSpPr>
        <p:spPr>
          <a:xfrm>
            <a:off x="2031012" y="6271205"/>
            <a:ext cx="422879" cy="560154"/>
          </a:xfrm>
          <a:prstGeom prst="line">
            <a:avLst/>
          </a:prstGeom>
          <a:ln>
            <a:headEnd type="oval" w="lg" len="lg"/>
            <a:tailEnd type="oval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sp>
      <p:sp>
        <p:nvSpPr>
          <p:cNvPr id="38" name="AutoShape 38"/>
          <p:cNvSpPr/>
          <p:nvPr/>
        </p:nvSpPr>
        <p:spPr>
          <a:xfrm>
            <a:off x="5916410" y="6271205"/>
            <a:ext cx="422879" cy="560154"/>
          </a:xfrm>
          <a:prstGeom prst="line">
            <a:avLst/>
          </a:prstGeom>
          <a:ln>
            <a:headEnd type="oval" w="lg" len="lg"/>
            <a:tailEnd type="oval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sp>
      <p:sp>
        <p:nvSpPr>
          <p:cNvPr id="39" name="AutoShape 39"/>
          <p:cNvSpPr/>
          <p:nvPr/>
        </p:nvSpPr>
        <p:spPr>
          <a:xfrm>
            <a:off x="9801808" y="6271205"/>
            <a:ext cx="422879" cy="560154"/>
          </a:xfrm>
          <a:prstGeom prst="line">
            <a:avLst/>
          </a:prstGeom>
          <a:ln>
            <a:headEnd type="oval" w="lg" len="lg"/>
            <a:tailEnd type="oval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sp>
      <p:sp>
        <p:nvSpPr>
          <p:cNvPr id="40" name="AutoShape 40"/>
          <p:cNvSpPr/>
          <p:nvPr/>
        </p:nvSpPr>
        <p:spPr>
          <a:xfrm>
            <a:off x="13687206" y="6271205"/>
            <a:ext cx="422879" cy="560154"/>
          </a:xfrm>
          <a:prstGeom prst="line">
            <a:avLst/>
          </a:prstGeom>
          <a:ln>
            <a:headEnd type="oval" w="lg" len="lg"/>
            <a:tailEnd type="oval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sp>
      <p:sp>
        <p:nvSpPr>
          <p:cNvPr id="41" name="Freeform 41"/>
          <p:cNvSpPr/>
          <p:nvPr/>
        </p:nvSpPr>
        <p:spPr>
          <a:xfrm>
            <a:off x="13573557" y="7704266"/>
            <a:ext cx="2300288" cy="2314755"/>
          </a:xfrm>
          <a:custGeom>
            <a:avLst/>
            <a:gdLst/>
            <a:ahLst/>
            <a:cxnLst/>
            <a:rect l="l" t="t" r="r" b="b"/>
            <a:pathLst>
              <a:path w="2300288" h="2314755">
                <a:moveTo>
                  <a:pt x="0" y="0"/>
                </a:moveTo>
                <a:lnTo>
                  <a:pt x="2300288" y="0"/>
                </a:lnTo>
                <a:lnTo>
                  <a:pt x="2300288" y="2314755"/>
                </a:lnTo>
                <a:lnTo>
                  <a:pt x="0" y="23147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7863659" y="7870669"/>
            <a:ext cx="835846" cy="841103"/>
          </a:xfrm>
          <a:custGeom>
            <a:avLst/>
            <a:gdLst/>
            <a:ahLst/>
            <a:cxnLst/>
            <a:rect l="l" t="t" r="r" b="b"/>
            <a:pathLst>
              <a:path w="835846" h="841103">
                <a:moveTo>
                  <a:pt x="0" y="0"/>
                </a:moveTo>
                <a:lnTo>
                  <a:pt x="835846" y="0"/>
                </a:lnTo>
                <a:lnTo>
                  <a:pt x="835846" y="841103"/>
                </a:lnTo>
                <a:lnTo>
                  <a:pt x="0" y="8411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EB69A9A3-C0F3-44C5-9E27-C6C315D89F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4" y="945422"/>
            <a:ext cx="555333" cy="5553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F1B3F128-412A-4D76-A2E2-5317C0D82F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62379" y="254180"/>
            <a:ext cx="5922644" cy="34776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877124" y="-5774681"/>
            <a:ext cx="23030315" cy="230303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148779" y="-2995908"/>
            <a:ext cx="17472768" cy="1747276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311443" y="-209001"/>
            <a:ext cx="11898955" cy="1189895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431800" y="6174567"/>
            <a:ext cx="4206349" cy="3476849"/>
          </a:xfrm>
          <a:custGeom>
            <a:avLst/>
            <a:gdLst/>
            <a:ahLst/>
            <a:cxnLst/>
            <a:rect l="l" t="t" r="r" b="b"/>
            <a:pathLst>
              <a:path w="4206349" h="2355013">
                <a:moveTo>
                  <a:pt x="0" y="0"/>
                </a:moveTo>
                <a:lnTo>
                  <a:pt x="4206349" y="0"/>
                </a:lnTo>
                <a:lnTo>
                  <a:pt x="4206349" y="2355013"/>
                </a:lnTo>
                <a:lnTo>
                  <a:pt x="0" y="2355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4959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638149" y="6193618"/>
            <a:ext cx="4741955" cy="3457798"/>
          </a:xfrm>
          <a:custGeom>
            <a:avLst/>
            <a:gdLst/>
            <a:ahLst/>
            <a:cxnLst/>
            <a:rect l="l" t="t" r="r" b="b"/>
            <a:pathLst>
              <a:path w="4741955" h="2355013">
                <a:moveTo>
                  <a:pt x="0" y="0"/>
                </a:moveTo>
                <a:lnTo>
                  <a:pt x="4741955" y="0"/>
                </a:lnTo>
                <a:lnTo>
                  <a:pt x="4741955" y="2355013"/>
                </a:lnTo>
                <a:lnTo>
                  <a:pt x="0" y="2355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197"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3" name="Freeform 13"/>
          <p:cNvSpPr/>
          <p:nvPr/>
        </p:nvSpPr>
        <p:spPr>
          <a:xfrm rot="5400000" flipV="1">
            <a:off x="-7280255" y="6301794"/>
            <a:ext cx="23836578" cy="11232987"/>
          </a:xfrm>
          <a:custGeom>
            <a:avLst/>
            <a:gdLst/>
            <a:ahLst/>
            <a:cxnLst/>
            <a:rect l="l" t="t" r="r" b="b"/>
            <a:pathLst>
              <a:path w="23836578" h="11232987">
                <a:moveTo>
                  <a:pt x="0" y="11232988"/>
                </a:moveTo>
                <a:lnTo>
                  <a:pt x="23836578" y="11232988"/>
                </a:lnTo>
                <a:lnTo>
                  <a:pt x="23836578" y="0"/>
                </a:lnTo>
                <a:lnTo>
                  <a:pt x="0" y="0"/>
                </a:lnTo>
                <a:lnTo>
                  <a:pt x="0" y="1123298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211727" y="656501"/>
            <a:ext cx="2262828" cy="2277060"/>
          </a:xfrm>
          <a:custGeom>
            <a:avLst/>
            <a:gdLst/>
            <a:ahLst/>
            <a:cxnLst/>
            <a:rect l="l" t="t" r="r" b="b"/>
            <a:pathLst>
              <a:path w="2262828" h="2277060">
                <a:moveTo>
                  <a:pt x="0" y="0"/>
                </a:moveTo>
                <a:lnTo>
                  <a:pt x="2262828" y="0"/>
                </a:lnTo>
                <a:lnTo>
                  <a:pt x="2262828" y="2277059"/>
                </a:lnTo>
                <a:lnTo>
                  <a:pt x="0" y="22770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9687106" y="2750597"/>
            <a:ext cx="586943" cy="590634"/>
          </a:xfrm>
          <a:custGeom>
            <a:avLst/>
            <a:gdLst/>
            <a:ahLst/>
            <a:cxnLst/>
            <a:rect l="l" t="t" r="r" b="b"/>
            <a:pathLst>
              <a:path w="586943" h="590634">
                <a:moveTo>
                  <a:pt x="0" y="0"/>
                </a:moveTo>
                <a:lnTo>
                  <a:pt x="586943" y="0"/>
                </a:lnTo>
                <a:lnTo>
                  <a:pt x="586943" y="590634"/>
                </a:lnTo>
                <a:lnTo>
                  <a:pt x="0" y="5906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2201266" y="1881890"/>
            <a:ext cx="1026166" cy="1032620"/>
          </a:xfrm>
          <a:custGeom>
            <a:avLst/>
            <a:gdLst/>
            <a:ahLst/>
            <a:cxnLst/>
            <a:rect l="l" t="t" r="r" b="b"/>
            <a:pathLst>
              <a:path w="1026166" h="1032620">
                <a:moveTo>
                  <a:pt x="0" y="0"/>
                </a:moveTo>
                <a:lnTo>
                  <a:pt x="1026166" y="0"/>
                </a:lnTo>
                <a:lnTo>
                  <a:pt x="1026166" y="1032620"/>
                </a:lnTo>
                <a:lnTo>
                  <a:pt x="0" y="1032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622271" y="1097440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1900" b="1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963933" y="2855111"/>
            <a:ext cx="8349423" cy="347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37"/>
              </a:lnSpc>
            </a:pPr>
            <a:r>
              <a:rPr lang="ru-RU" sz="8000" b="1" spc="-32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Заключение и развитие проекта</a:t>
            </a:r>
            <a:endParaRPr lang="en-US" sz="8000" b="1" spc="-32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9829481" y="8580203"/>
            <a:ext cx="3076941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endParaRPr lang="en-US" sz="1899" dirty="0">
              <a:solidFill>
                <a:srgbClr val="20202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9687107" y="7103689"/>
            <a:ext cx="3570724" cy="1348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endParaRPr lang="en-US" sz="1899" dirty="0">
              <a:solidFill>
                <a:srgbClr val="20202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3700396" y="8183328"/>
            <a:ext cx="2774160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endParaRPr lang="en-US" sz="1899" dirty="0">
              <a:solidFill>
                <a:srgbClr val="20202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9411064" y="6972300"/>
            <a:ext cx="7063492" cy="1877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endParaRPr lang="en-US" sz="1899" dirty="0">
              <a:solidFill>
                <a:srgbClr val="20202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48FCE753-4EE9-4710-B30D-0DA4CC5F86F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4" y="945422"/>
            <a:ext cx="555333" cy="5553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9A311C6-2A40-4B43-9C17-64C65FAAED77}"/>
              </a:ext>
            </a:extLst>
          </p:cNvPr>
          <p:cNvSpPr txBox="1"/>
          <p:nvPr/>
        </p:nvSpPr>
        <p:spPr>
          <a:xfrm>
            <a:off x="1608277" y="2346253"/>
            <a:ext cx="597072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Codec Pro" panose="020B0604020202020204" charset="0"/>
              </a:rPr>
              <a:t>Итоги:</a:t>
            </a:r>
          </a:p>
          <a:p>
            <a:r>
              <a:rPr lang="ru-RU" sz="2400" dirty="0">
                <a:latin typeface="Codec Pro" panose="020B0604020202020204" charset="0"/>
              </a:rPr>
              <a:t>- </a:t>
            </a:r>
            <a:r>
              <a:rPr lang="ru-RU" sz="2400" dirty="0" err="1">
                <a:latin typeface="Codec Pro" panose="020B0604020202020204" charset="0"/>
              </a:rPr>
              <a:t>EzOlimp</a:t>
            </a:r>
            <a:r>
              <a:rPr lang="ru-RU" sz="2400" dirty="0">
                <a:latin typeface="Codec Pro" panose="020B0604020202020204" charset="0"/>
              </a:rPr>
              <a:t> реализует полный цикл подготовки: задача → ответ → проверка → разбор → метрики прогресса.</a:t>
            </a:r>
          </a:p>
          <a:p>
            <a:r>
              <a:rPr lang="ru-RU" sz="2400" dirty="0">
                <a:latin typeface="Codec Pro" panose="020B0604020202020204" charset="0"/>
              </a:rPr>
              <a:t>- Реализована система безопасности (</a:t>
            </a:r>
            <a:r>
              <a:rPr lang="en-US" sz="2400" dirty="0">
                <a:latin typeface="Codec Pro" panose="020B0604020202020204" charset="0"/>
              </a:rPr>
              <a:t>JWT)</a:t>
            </a:r>
            <a:br>
              <a:rPr lang="en-US" sz="2400" dirty="0">
                <a:latin typeface="Codec Pro" panose="020B0604020202020204" charset="0"/>
              </a:rPr>
            </a:br>
            <a:r>
              <a:rPr lang="en-US" sz="2400" dirty="0">
                <a:latin typeface="Codec Pro" panose="020B0604020202020204" charset="0"/>
              </a:rPr>
              <a:t>- </a:t>
            </a:r>
            <a:r>
              <a:rPr lang="ru-RU" sz="2400" dirty="0">
                <a:latin typeface="Codec Pro" panose="020B0604020202020204" charset="0"/>
              </a:rPr>
              <a:t>Сайт развернут на сервере</a:t>
            </a:r>
            <a:br>
              <a:rPr lang="ru-RU" sz="2400" dirty="0">
                <a:latin typeface="Codec Pro" panose="020B0604020202020204" charset="0"/>
              </a:rPr>
            </a:br>
            <a:r>
              <a:rPr lang="ru-RU" sz="2400" dirty="0">
                <a:latin typeface="Codec Pro" panose="020B0604020202020204" charset="0"/>
              </a:rPr>
              <a:t>(</a:t>
            </a:r>
            <a:r>
              <a:rPr lang="en-US" sz="2400" dirty="0">
                <a:latin typeface="Codec Pro" panose="020B0604020202020204" charset="0"/>
                <a:hlinkClick r:id="rId8"/>
              </a:rPr>
              <a:t>https://ezolimp.ru</a:t>
            </a:r>
            <a:r>
              <a:rPr lang="ru-RU" sz="2400" dirty="0">
                <a:latin typeface="Codec Pro" panose="020B0604020202020204" charset="0"/>
              </a:rPr>
              <a:t>) с </a:t>
            </a:r>
            <a:r>
              <a:rPr lang="en-US" sz="2400" dirty="0">
                <a:latin typeface="Codec Pro" panose="020B0604020202020204" charset="0"/>
              </a:rPr>
              <a:t>SSL </a:t>
            </a:r>
            <a:r>
              <a:rPr lang="ru-RU" sz="2400" dirty="0">
                <a:latin typeface="Codec Pro" panose="020B0604020202020204" charset="0"/>
              </a:rPr>
              <a:t>сертификатом</a:t>
            </a:r>
            <a:br>
              <a:rPr lang="ru-RU" sz="2400" dirty="0">
                <a:latin typeface="Codec Pro" panose="020B0604020202020204" charset="0"/>
              </a:rPr>
            </a:br>
            <a:r>
              <a:rPr lang="ru-RU" sz="2400" dirty="0">
                <a:latin typeface="Codec Pro" panose="020B0604020202020204" charset="0"/>
              </a:rPr>
              <a:t>- База пользователей с индивидуальными показателями для каждого</a:t>
            </a:r>
            <a:br>
              <a:rPr lang="ru-RU" sz="2400" dirty="0">
                <a:latin typeface="Codec Pro" panose="020B0604020202020204" charset="0"/>
              </a:rPr>
            </a:br>
            <a:r>
              <a:rPr lang="ru-RU" sz="2400" dirty="0">
                <a:latin typeface="Codec Pro" panose="020B0604020202020204" charset="0"/>
              </a:rPr>
              <a:t>- Режим </a:t>
            </a:r>
            <a:r>
              <a:rPr lang="en-US" sz="2400" dirty="0" err="1">
                <a:latin typeface="Codec Pro" panose="020B0604020202020204" charset="0"/>
              </a:rPr>
              <a:t>pvp</a:t>
            </a:r>
            <a:r>
              <a:rPr lang="en-US" sz="2400" dirty="0">
                <a:latin typeface="Codec Pro" panose="020B0604020202020204" charset="0"/>
              </a:rPr>
              <a:t> </a:t>
            </a:r>
            <a:r>
              <a:rPr lang="ru-RU" sz="2400" dirty="0">
                <a:latin typeface="Codec Pro" panose="020B0604020202020204" charset="0"/>
              </a:rPr>
              <a:t>с подбором соперников по классу обучения</a:t>
            </a:r>
            <a:br>
              <a:rPr lang="ru-RU" sz="2400" dirty="0">
                <a:latin typeface="Codec Pro" panose="020B0604020202020204" charset="0"/>
              </a:rPr>
            </a:br>
            <a:r>
              <a:rPr lang="ru-RU" sz="2400" dirty="0">
                <a:latin typeface="Codec Pro" panose="020B0604020202020204" charset="0"/>
              </a:rPr>
              <a:t>- Огромный каталог задач ВСОШ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10E8C8-BA1D-428C-B11D-0BBE8B1A84D0}"/>
              </a:ext>
            </a:extLst>
          </p:cNvPr>
          <p:cNvSpPr txBox="1"/>
          <p:nvPr/>
        </p:nvSpPr>
        <p:spPr>
          <a:xfrm>
            <a:off x="9374676" y="6996404"/>
            <a:ext cx="70634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Codec Pro" panose="020B0604020202020204" charset="0"/>
              </a:rPr>
              <a:t>Планы развития:</a:t>
            </a:r>
          </a:p>
          <a:p>
            <a:r>
              <a:rPr lang="ru-RU" sz="1600" dirty="0">
                <a:latin typeface="Codec Pro" panose="020B0604020202020204" charset="0"/>
              </a:rPr>
              <a:t>- Реализовать работу </a:t>
            </a:r>
            <a:r>
              <a:rPr lang="en-US" sz="1600" dirty="0">
                <a:latin typeface="Codec Pro" panose="020B0604020202020204" charset="0"/>
              </a:rPr>
              <a:t>AI </a:t>
            </a:r>
            <a:r>
              <a:rPr lang="ru-RU" sz="1600" dirty="0">
                <a:latin typeface="Codec Pro" panose="020B0604020202020204" charset="0"/>
              </a:rPr>
              <a:t>на сервере (сейчас отключена т.к. сервер не потянет)</a:t>
            </a:r>
            <a:br>
              <a:rPr lang="ru-RU" sz="1600" dirty="0">
                <a:latin typeface="Codec Pro" panose="020B0604020202020204" charset="0"/>
              </a:rPr>
            </a:br>
            <a:r>
              <a:rPr lang="ru-RU" sz="1600" dirty="0">
                <a:latin typeface="Codec Pro" panose="020B0604020202020204" charset="0"/>
              </a:rPr>
              <a:t>- Сделать </a:t>
            </a:r>
            <a:r>
              <a:rPr lang="en-US" sz="1600" dirty="0">
                <a:latin typeface="Codec Pro" panose="020B0604020202020204" charset="0"/>
              </a:rPr>
              <a:t>python – </a:t>
            </a:r>
            <a:r>
              <a:rPr lang="ru-RU" sz="1600" dirty="0">
                <a:latin typeface="Codec Pro" panose="020B0604020202020204" charset="0"/>
              </a:rPr>
              <a:t>компилятор для задач на программированию</a:t>
            </a:r>
            <a:br>
              <a:rPr lang="ru-RU" sz="1600" dirty="0">
                <a:latin typeface="Codec Pro" panose="020B0604020202020204" charset="0"/>
              </a:rPr>
            </a:br>
            <a:r>
              <a:rPr lang="ru-RU" sz="1600" dirty="0">
                <a:latin typeface="Codec Pro" panose="020B0604020202020204" charset="0"/>
              </a:rPr>
              <a:t>- Расширить базу задач (МОШ и другие олимпиады)</a:t>
            </a:r>
            <a:br>
              <a:rPr lang="ru-RU" sz="1600" dirty="0">
                <a:latin typeface="Codec Pro" panose="020B0604020202020204" charset="0"/>
              </a:rPr>
            </a:br>
            <a:r>
              <a:rPr lang="ru-RU" sz="1600" dirty="0">
                <a:latin typeface="Codec Pro" panose="020B0604020202020204" charset="0"/>
              </a:rPr>
              <a:t>- Улучшить качество работы нейросети в целом.</a:t>
            </a:r>
            <a:endParaRPr lang="ru-RU" sz="1600" b="1" u="sng" dirty="0">
              <a:latin typeface="Codec Pro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919</Words>
  <Application>Microsoft Office PowerPoint</Application>
  <PresentationFormat>Произвольный</PresentationFormat>
  <Paragraphs>115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Codec Pro Bold</vt:lpstr>
      <vt:lpstr>Calibri</vt:lpstr>
      <vt:lpstr>Arial</vt:lpstr>
      <vt:lpstr>IBM Plex Sans</vt:lpstr>
      <vt:lpstr>Codec Pro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Clean Business Strategic Plan Presentation</dc:title>
  <dc:creator>Максим Богушевич</dc:creator>
  <cp:lastModifiedBy>Максим _</cp:lastModifiedBy>
  <cp:revision>18</cp:revision>
  <dcterms:created xsi:type="dcterms:W3CDTF">2006-08-16T00:00:00Z</dcterms:created>
  <dcterms:modified xsi:type="dcterms:W3CDTF">2026-05-04T17:40:32Z</dcterms:modified>
  <dc:identifier>DAHD9b_Hnns</dc:identifier>
</cp:coreProperties>
</file>